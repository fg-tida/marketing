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1448944649" r:id="rId22"/>
    <p:sldId id="1448944650" r:id="rId23"/>
    <p:sldId id="1448944651" r:id="rId24"/>
    <p:sldId id="1448944652" r:id="rId25"/>
    <p:sldId id="1448944653" r:id="rId26"/>
    <p:sldId id="1448944654" r:id="rId27"/>
    <p:sldId id="1448944655" r:id="rId28"/>
    <p:sldId id="1448944656" r:id="rId29"/>
    <p:sldId id="1448944657" r:id="rId30"/>
    <p:sldId id="1448944658" r:id="rId31"/>
    <p:sldId id="1448944659" r:id="rId32"/>
    <p:sldId id="1448944660" r:id="rId33"/>
    <p:sldId id="1448944661" r:id="rId34"/>
    <p:sldId id="1448944662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A21"/>
    <a:srgbClr val="009EDB"/>
    <a:srgbClr val="049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188" autoAdjust="0"/>
  </p:normalViewPr>
  <p:slideViewPr>
    <p:cSldViewPr snapToGrid="0">
      <p:cViewPr varScale="1">
        <p:scale>
          <a:sx n="52" d="100"/>
          <a:sy n="52" d="100"/>
        </p:scale>
        <p:origin x="11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146AC-91B1-478C-8856-09A1165143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4243C-45DD-4622-9728-5080CDD53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3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F99A-C621-A186-5A2A-439FA6A14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07282-993E-F770-C64D-000F5A0E0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57C8-5756-AE75-CF1C-53750525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BD65A-81E3-F0C7-DFA3-D06D6BEF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19E62-A837-D6A2-9052-E142B47C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6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5105-6DE9-82A8-A652-E2DC8195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F9A48-AA36-36F2-E934-4AA153F34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E4DF7-6EDB-1667-8336-25835B4B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11BE4-69F7-AD77-8BCF-D4A07E31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C25E-0590-FD43-18FF-0E44381D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98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D044-8043-0B05-8306-74637BE4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0645-0B5F-D8E8-63EA-D6820A1AB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D432E-6DB2-BE1B-1C06-6FCFCFBC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11E0-BA51-323C-CA78-DB0D4B6C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E12F-E686-C38E-62BB-46D17979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7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9226-FAF3-B00D-B436-C12747DD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C885-3D02-32E4-4A70-745BA1E43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5EFCB-8F0C-833F-601F-D59910C6C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57883-2132-6ACF-B26D-218B10A4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9F917-552F-B126-D9F6-E694CB91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221D2-7695-5D9F-FFD5-E498E313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7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5F0C-9195-EF66-4170-B274087F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847E9-B8C0-B6F9-A918-4B0E6CD96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F8AAD-EC3E-0E24-0190-481FFE1A2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A32C3-0F85-8732-21E3-C51B166F7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2E302-C262-20CA-683A-7F5772695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36FD1-A8AE-1528-F29B-5104196F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031F6-CEEC-5683-CBCD-811976C4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64CD9-1886-CF40-500F-FA81BA27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18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F7B7-54C1-2BCC-C55D-0D279464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9A7C9-0128-4EF6-2228-07F8CF08F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F1362-DE8D-89FC-5F75-6D76C33B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841CF-A51F-F88D-BFCE-E15EC47F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97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3B53C-D80E-78FB-308A-BBCFABFC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D69DB-FAB6-49BA-3D9D-95D4D5D9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7715-9066-BFA8-8AC8-7EAC4094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960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A97B-5608-05A6-5B59-01FB16A0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C406F-71B4-4613-7139-A789AAE2C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F7945-FDA2-2CB3-300D-06CAC6D31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A5D6F-5E5B-A94B-490B-A9616A9B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D0695-3EB2-C179-DFAD-1E9966E8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9489-36B6-EE3A-3B4A-3C169071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04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64D4-2E92-6BD8-2143-528ABA7C1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983D2-4E49-12A5-E397-8E77AF75F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A7BDF-7CB5-14CC-006A-53118C658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BDC58-6717-7269-E95E-0987E8A9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B5421-C6D6-EC59-FFC2-6CE8E48F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EA39-E95D-A614-37E3-26AA4503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48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809E-5167-A68C-4651-57E05ACD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2C5B1-8F48-FF14-1E62-FC891D10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34BD2-6AE5-D61A-7FA8-E4095E0D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1757E-3BFB-F975-1187-6A2213E3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44003-B9CD-4403-6552-DBB0A1CE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05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DECCA-5038-748F-E4D3-30CC4EBBF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93D91-CF78-488F-819D-E08B3BBD7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1F554-EA90-F39D-2CC5-9EF662E1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9CEC-5F10-C13B-029E-E2BEE3FB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FF3E-6C87-3937-24F7-391A99A9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8439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56F67-8D88-98FE-3969-1399AD16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8B2EA-AFF6-6AA2-0336-C263ECF8E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DAB46-C55A-8DC7-818A-77CFE3DDF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C2062-6E7A-4594-8AA0-CC862D6C2B72}" type="datetimeFigureOut">
              <a:rPr lang="fr-FR" smtClean="0"/>
              <a:t>05/10/2026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4ECA4-AD84-8C4D-2277-65E5FD3D1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B3551-697D-F9D6-4FB4-6D2F3C04D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33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www.itu.int/en/ITU-T/focusgroups/tida/Pages/ToR.aspx" TargetMode="External"/><Relationship Id="rId4" Type="http://schemas.openxmlformats.org/officeDocument/2006/relationships/hyperlink" Target="https://tida.community" TargetMode="External"/><Relationship Id="rId5" Type="http://schemas.openxmlformats.org/officeDocument/2006/relationships/hyperlink" Target="https://www.itu.int/en/ITU-T/focusgroups/tida/Pages/default.aspx" TargetMode="External"/><Relationship Id="rId6" Type="http://schemas.openxmlformats.org/officeDocument/2006/relationships/image" Target="../media/image14.jpeg"/><Relationship Id="rId7" Type="http://schemas.openxmlformats.org/officeDocument/2006/relationships/hyperlink" Target="https://tida.community/news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hyperlink" Target="https://tida.communit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hyperlink" Target="https://github.com/FG-TIDA/meetings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www.itu.int/en/ITU-T/focusgroups/tida/Pages/default.aspx" TargetMode="External"/><Relationship Id="rId4" Type="http://schemas.openxmlformats.org/officeDocument/2006/relationships/image" Target="../media/image17.png"/><Relationship Id="rId5" Type="http://schemas.openxmlformats.org/officeDocument/2006/relationships/hyperlink" Target="https://github.com/FG-TIDA" TargetMode="External"/><Relationship Id="rId6" Type="http://schemas.openxmlformats.org/officeDocument/2006/relationships/hyperlink" Target="https://github.com/FG-TIDA/themes" TargetMode="External"/><Relationship Id="rId7" Type="http://schemas.openxmlformats.org/officeDocument/2006/relationships/hyperlink" Target="https://github.com/FG-TIDA/use-cases" TargetMode="External"/><Relationship Id="rId8" Type="http://schemas.openxmlformats.org/officeDocument/2006/relationships/hyperlink" Target="https://github.com/FG-TIDA/spec-template" TargetMode="External"/><Relationship Id="rId9" Type="http://schemas.openxmlformats.org/officeDocument/2006/relationships/hyperlink" Target="https://github.com/FG-TIDA/wg1-ra-aai" TargetMode="External"/><Relationship Id="rId10" Type="http://schemas.openxmlformats.org/officeDocument/2006/relationships/hyperlink" Target="https://github.com/FG-TIDA/meeting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6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www.itu.int/en/ITU-T/focusgroups/tida/Pages/default.aspx" TargetMode="External"/><Relationship Id="rId4" Type="http://schemas.openxmlformats.org/officeDocument/2006/relationships/hyperlink" Target="https://www.itu.int/en/ITU-T/focusgroups/tida/Pages/reg.aspx" TargetMode="External"/><Relationship Id="rId5" Type="http://schemas.openxmlformats.org/officeDocument/2006/relationships/hyperlink" Target="https://www.itu.int/en/ITU-T/focusgroups/tida/Pages/ToR.aspx" TargetMode="External"/><Relationship Id="rId6" Type="http://schemas.openxmlformats.org/officeDocument/2006/relationships/hyperlink" Target="https://github.com/FG-TIDA" TargetMode="External"/><Relationship Id="rId7" Type="http://schemas.openxmlformats.org/officeDocument/2006/relationships/hyperlink" Target="https://tida.community" TargetMode="External"/><Relationship Id="rId8" Type="http://schemas.openxmlformats.org/officeDocument/2006/relationships/hyperlink" Target="https://www.itu.int/itad/gitlab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>
            <a:extLst>
              <a:ext uri="{FF2B5EF4-FFF2-40B4-BE49-F238E27FC236}">
                <a16:creationId xmlns:a16="http://schemas.microsoft.com/office/drawing/2014/main" id="{D87B9139-E6DB-AAB8-6936-82D803A57264}"/>
              </a:ext>
            </a:extLst>
          </p:cNvPr>
          <p:cNvSpPr/>
          <p:nvPr/>
        </p:nvSpPr>
        <p:spPr>
          <a:xfrm>
            <a:off x="0" y="-35169"/>
            <a:ext cx="12192000" cy="3621032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F5CFE6-F155-2E75-5308-3553512A5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1467" y="3585863"/>
            <a:ext cx="2789066" cy="3281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3ECE8D-7960-85D1-18C1-C36F143DF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CCEB54-71A6-27BE-D631-346C836DF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000" y="5500000"/>
            <a:ext cx="4700000" cy="1250000"/>
          </a:xfrm>
        </p:spPr>
        <p:txBody>
          <a:bodyPr wrap="square" anchor="t">
            <a:normAutofit/>
          </a:bodyPr>
          <a:lstStyle/>
          <a:p>
            <a:pPr algn="l">
              <a:buNone/>
            </a:pPr>
            <a:r>
              <a:rPr sz="2400" b="1" i="0">
                <a:solidFill>
                  <a:srgbClr val="FFFFFF"/>
                </a:solidFill>
              </a:rPr>
              <a:t>FG-TIDA update</a:t>
            </a:r>
          </a:p>
          <a:p>
            <a:pPr algn="l">
              <a:buNone/>
            </a:pPr>
            <a:r>
              <a:rPr sz="1800" b="1" i="0">
                <a:solidFill>
                  <a:srgbClr val="FFFFFF"/>
                </a:solidFill>
              </a:rPr>
              <a:t>Status 20 October 2026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FFFFF"/>
                </a:solidFill>
              </a:rPr>
              <a:t>Update of SG17-TD315/PLEN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D1D0B4E9-113F-1B59-9C78-028D9DA8AC8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A606E3-0F92-7615-B925-127DA6E2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What FG-TIDA is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50198F-17D5-680D-FED5-6526C305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7556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56082"/>
                </a:solidFill>
              </a:rPr>
              <a:t>To define architectural models and interoperability frameworks that establish </a:t>
            </a:r>
            <a:r>
              <a:rPr sz="2400" b="1">
                <a:solidFill>
                  <a:srgbClr val="FFC000"/>
                </a:solidFill>
              </a:rPr>
              <a:t>trust in agentic AI</a:t>
            </a:r>
            <a:r>
              <a:rPr sz="2400" b="1">
                <a:solidFill>
                  <a:srgbClr val="156082"/>
                </a:solidFill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97480"/>
            <a:ext cx="2670048" cy="22402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97480"/>
            <a:ext cx="82296" cy="224028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743200"/>
            <a:ext cx="2487168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6082"/>
                </a:solidFill>
              </a:rPr>
              <a:t>Mandate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ITU-T Focus Group on Trust and Identity for Humans and Agentic AI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Established under </a:t>
            </a:r>
            <a:r>
              <a:rPr sz="1400" b="1">
                <a:solidFill>
                  <a:srgbClr val="262626"/>
                </a:solidFill>
              </a:rPr>
              <a:t>Recommendation ITU-T A.7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Parent group: </a:t>
            </a:r>
            <a:r>
              <a:rPr sz="1400" b="1">
                <a:solidFill>
                  <a:srgbClr val="262626"/>
                </a:solidFill>
              </a:rPr>
              <a:t>ITU-T SG17 (Security)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2697480"/>
            <a:ext cx="2670048" cy="22402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4992" y="2697480"/>
            <a:ext cx="82296" cy="224028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743200"/>
            <a:ext cx="2487168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6082"/>
                </a:solidFill>
              </a:rPr>
              <a:t>Pre-standardization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Terminology · use cases · architectures · trust frameworks and lifecycle · machine-readable trust metadata · guidelines · a (pre-)standardization roadmap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697480"/>
            <a:ext cx="2670048" cy="22402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697480"/>
            <a:ext cx="82296" cy="224028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743200"/>
            <a:ext cx="2487168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6082"/>
                </a:solidFill>
              </a:rPr>
              <a:t>Collaboration platform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With ITU-T Study Groups, other SDOs, industry, open-source communities and academia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2697480"/>
            <a:ext cx="2670048" cy="224028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2697480"/>
            <a:ext cx="82296" cy="22402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7424" y="2743200"/>
            <a:ext cx="2487168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6082"/>
                </a:solidFill>
              </a:rPr>
              <a:t>Open to all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</a:rPr>
              <a:t>Free of charge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</a:rPr>
              <a:t>No ITU membership required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11109960" cy="10972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6636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56082"/>
                </a:solidFill>
              </a:rPr>
              <a:t>CO-CHAIRS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62626"/>
                </a:solidFill>
              </a:rPr>
              <a:t>Debora Comparin (Thales)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62626"/>
                </a:solidFill>
              </a:rPr>
              <a:t>Amir Banifatemi (Cognizant)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6636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56082"/>
                </a:solidFill>
              </a:rPr>
              <a:t>VICE-CHAIRS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62626"/>
                </a:solidFill>
              </a:rPr>
              <a:t>Sounil Yu (Knostic)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62626"/>
                </a:solidFill>
              </a:rPr>
              <a:t>Claire (Liangliang) Zhang (Huawei)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16636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56082"/>
                </a:solidFill>
              </a:rPr>
              <a:t>TSB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62626"/>
                </a:solidFill>
              </a:rPr>
              <a:t>Thomas Basikolo (Counsellor)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262626"/>
                </a:solidFill>
              </a:rPr>
              <a:t>N'Goran Franck Konan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D1D0B4E9-113F-1B59-9C78-028D9DA8AC8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A606E3-0F92-7615-B925-127DA6E2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How FG-TIDA was created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50198F-17D5-680D-FED5-6526C305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5982" y="172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 i="0">
                <a:solidFill>
                  <a:schemeClr val="accent1"/>
                </a:solidFill>
              </a:rPr>
              <a:t>Four SG17 workshops in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982" y="2200000"/>
            <a:ext cx="2650000" cy="125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5982" y="2260000"/>
            <a:ext cx="2530000" cy="1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 b="1" i="0">
                <a:solidFill>
                  <a:srgbClr val="13294B"/>
                </a:solidFill>
              </a:rPr>
              <a:t>30–31 March</a:t>
            </a:r>
          </a:p>
          <a:p>
            <a:pPr algn="ctr">
              <a:spcBef>
                <a:spcPts val="400"/>
              </a:spcBef>
              <a:buNone/>
            </a:pPr>
            <a:r>
              <a:rPr sz="1400" b="0" i="0">
                <a:solidFill>
                  <a:srgbClr val="6B7785"/>
                </a:solidFill>
              </a:rPr>
              <a:t>Trustable and Interoperable Digital Identities (Geneva)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5982" y="2200000"/>
            <a:ext cx="2650000" cy="125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385982" y="2260000"/>
            <a:ext cx="2530000" cy="1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 b="1" i="0">
                <a:solidFill>
                  <a:srgbClr val="13294B"/>
                </a:solidFill>
              </a:rPr>
              <a:t>12 May</a:t>
            </a:r>
          </a:p>
          <a:p>
            <a:pPr algn="ctr">
              <a:spcBef>
                <a:spcPts val="400"/>
              </a:spcBef>
              <a:buNone/>
            </a:pPr>
            <a:r>
              <a:rPr sz="1400" b="0" i="0">
                <a:solidFill>
                  <a:srgbClr val="6B7785"/>
                </a:solidFill>
              </a:rPr>
              <a:t>5th X.509 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982" y="2200000"/>
            <a:ext cx="2650000" cy="125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95982" y="2260000"/>
            <a:ext cx="2530000" cy="1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 b="1" i="0">
                <a:solidFill>
                  <a:srgbClr val="13294B"/>
                </a:solidFill>
              </a:rPr>
              <a:t>2 June</a:t>
            </a:r>
          </a:p>
          <a:p>
            <a:pPr algn="ctr">
              <a:spcBef>
                <a:spcPts val="400"/>
              </a:spcBef>
              <a:buNone/>
            </a:pPr>
            <a:r>
              <a:rPr sz="1400" b="0" i="0">
                <a:solidFill>
                  <a:srgbClr val="6B7785"/>
                </a:solidFill>
              </a:rPr>
              <a:t>Global interoperability for trust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5982" y="2200000"/>
            <a:ext cx="2650000" cy="125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05982" y="2260000"/>
            <a:ext cx="2530000" cy="11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000" b="1" i="0">
                <a:solidFill>
                  <a:srgbClr val="13294B"/>
                </a:solidFill>
              </a:rPr>
              <a:t>9 July</a:t>
            </a:r>
          </a:p>
          <a:p>
            <a:pPr algn="ctr">
              <a:spcBef>
                <a:spcPts val="400"/>
              </a:spcBef>
              <a:buNone/>
            </a:pPr>
            <a:r>
              <a:rPr sz="1400" b="0" i="0">
                <a:solidFill>
                  <a:srgbClr val="6B7785"/>
                </a:solidFill>
              </a:rPr>
              <a:t>Designing Trust Management for Agentic AI (AI for Good)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982" y="3700000"/>
            <a:ext cx="5460000" cy="10000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5982" y="3750000"/>
            <a:ext cx="526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3294B"/>
                </a:solidFill>
              </a:rPr>
              <a:t>10 June 2026   </a:t>
            </a:r>
            <a:r>
              <a:rPr sz="1500" b="0" i="0">
                <a:solidFill>
                  <a:srgbClr val="262626"/>
                </a:solidFill>
              </a:rPr>
              <a:t>FG-TIDA agreed by consensus at the close of the SG17 meeting — ToR in SG17-TD295/PLEN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5982" y="3700000"/>
            <a:ext cx="5460000" cy="10000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5982" y="3750000"/>
            <a:ext cx="526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13294B"/>
                </a:solidFill>
              </a:rPr>
              <a:t>9 July 2026   </a:t>
            </a:r>
            <a:r>
              <a:rPr sz="1500" b="0" i="0">
                <a:solidFill>
                  <a:srgbClr val="262626"/>
                </a:solidFill>
              </a:rPr>
              <a:t>Launch on the AI for Good Centre Stage with 37 initial supporters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5982" y="4950000"/>
            <a:ext cx="11080000" cy="125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5982" y="4990000"/>
            <a:ext cx="10800000" cy="117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6B7785"/>
                </a:solidFill>
              </a:rPr>
              <a:t>Community behind the creation</a:t>
            </a:r>
          </a:p>
          <a:p>
            <a:pPr algn="ctr">
              <a:buNone/>
            </a:pPr>
            <a:r>
              <a:rPr sz="2600" b="1" i="0">
                <a:solidFill>
                  <a:srgbClr val="13294B"/>
                </a:solidFill>
              </a:rPr>
              <a:t>400+ </a:t>
            </a:r>
            <a:r>
              <a:rPr sz="1600" b="0" i="0">
                <a:solidFill>
                  <a:srgbClr val="6B7785"/>
                </a:solidFill>
              </a:rPr>
              <a:t>participants   </a:t>
            </a:r>
            <a:r>
              <a:rPr sz="2600" b="1" i="0">
                <a:solidFill>
                  <a:srgbClr val="13294B"/>
                </a:solidFill>
              </a:rPr>
              <a:t>54 </a:t>
            </a:r>
            <a:r>
              <a:rPr sz="1600" b="0" i="0">
                <a:solidFill>
                  <a:srgbClr val="6B7785"/>
                </a:solidFill>
              </a:rPr>
              <a:t>countries   </a:t>
            </a:r>
            <a:r>
              <a:rPr sz="2600" b="1" i="0">
                <a:solidFill>
                  <a:srgbClr val="13294B"/>
                </a:solidFill>
              </a:rPr>
              <a:t>42 </a:t>
            </a:r>
            <a:r>
              <a:rPr sz="1600" b="0" i="0">
                <a:solidFill>
                  <a:srgbClr val="6B7785"/>
                </a:solidFill>
              </a:rPr>
              <a:t>Member States   </a:t>
            </a:r>
            <a:r>
              <a:rPr sz="2600" b="1" i="0">
                <a:solidFill>
                  <a:srgbClr val="13294B"/>
                </a:solidFill>
              </a:rPr>
              <a:t>47 </a:t>
            </a:r>
            <a:r>
              <a:rPr sz="1600" b="0" i="0">
                <a:solidFill>
                  <a:srgbClr val="6B7785"/>
                </a:solidFill>
              </a:rPr>
              <a:t>companies   </a:t>
            </a:r>
            <a:r>
              <a:rPr sz="2600" b="1" i="0">
                <a:solidFill>
                  <a:srgbClr val="13294B"/>
                </a:solidFill>
              </a:rPr>
              <a:t>11 </a:t>
            </a:r>
            <a:r>
              <a:rPr sz="1600" b="0" i="0">
                <a:solidFill>
                  <a:srgbClr val="6B7785"/>
                </a:solidFill>
              </a:rPr>
              <a:t>universities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07EF1ABB-0FDF-41EC-E63C-4FB0587C44D3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B2CA1DF-0418-BC15-3989-C679FAED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9 July 2026: launch and visibility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4793A6-877D-7840-A3F0-DCB3ACBD1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pic>
        <p:nvPicPr>
          <p:cNvPr id="3" name="Image 1" descr="/sessions/festive-gracious-tesla/mnt/outputs/orig_image5.jpeg">
            <a:extLst>
              <a:ext uri="{FF2B5EF4-FFF2-40B4-BE49-F238E27FC236}">
                <a16:creationId xmlns:a16="http://schemas.microsoft.com/office/drawing/2014/main" id="{A48814AE-B925-2CAD-0896-25CD20DBA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947" y="1626827"/>
            <a:ext cx="4388707" cy="3289162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D0955D11-EFBE-F52C-D237-7B8EA537136F}"/>
              </a:ext>
            </a:extLst>
          </p:cNvPr>
          <p:cNvSpPr/>
          <p:nvPr/>
        </p:nvSpPr>
        <p:spPr>
          <a:xfrm>
            <a:off x="515982" y="1989909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D92EF33-400A-1E55-301F-338C318B318B}"/>
              </a:ext>
            </a:extLst>
          </p:cNvPr>
          <p:cNvSpPr/>
          <p:nvPr/>
        </p:nvSpPr>
        <p:spPr>
          <a:xfrm>
            <a:off x="515982" y="2037437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3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59095ED-EF24-8CBC-D0BC-7AAEEF3C5C06}"/>
              </a:ext>
            </a:extLst>
          </p:cNvPr>
          <p:cNvSpPr/>
          <p:nvPr/>
        </p:nvSpPr>
        <p:spPr>
          <a:xfrm>
            <a:off x="515982" y="2563217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supporters on stage</a:t>
            </a:r>
            <a:endParaRPr lang="en-US" sz="20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B413AB9B-10C8-4B73-D68D-B9F8BF708BBD}"/>
              </a:ext>
            </a:extLst>
          </p:cNvPr>
          <p:cNvSpPr/>
          <p:nvPr/>
        </p:nvSpPr>
        <p:spPr>
          <a:xfrm>
            <a:off x="3304902" y="1989909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09FDDC5-9F88-7799-6347-969BAA7736AB}"/>
              </a:ext>
            </a:extLst>
          </p:cNvPr>
          <p:cNvSpPr/>
          <p:nvPr/>
        </p:nvSpPr>
        <p:spPr>
          <a:xfrm>
            <a:off x="3304902" y="2035629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3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22BB63B2-32F1-EBB7-FD12-00105EF964FA}"/>
              </a:ext>
            </a:extLst>
          </p:cNvPr>
          <p:cNvSpPr/>
          <p:nvPr/>
        </p:nvSpPr>
        <p:spPr>
          <a:xfrm>
            <a:off x="3304902" y="258426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supporters listed on tida.community</a:t>
            </a:r>
            <a:endParaRPr lang="en-US" sz="20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3FB5B413-9CFB-8979-5483-13BD11461AD3}"/>
              </a:ext>
            </a:extLst>
          </p:cNvPr>
          <p:cNvSpPr/>
          <p:nvPr/>
        </p:nvSpPr>
        <p:spPr>
          <a:xfrm>
            <a:off x="515982" y="3224349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5E763E1-7BD2-23BB-F708-430D94D4E56E}"/>
              </a:ext>
            </a:extLst>
          </p:cNvPr>
          <p:cNvSpPr/>
          <p:nvPr/>
        </p:nvSpPr>
        <p:spPr>
          <a:xfrm>
            <a:off x="515982" y="3224349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3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BC8AF35-76FA-50E9-71B7-9CBDA7968751}"/>
              </a:ext>
            </a:extLst>
          </p:cNvPr>
          <p:cNvSpPr/>
          <p:nvPr/>
        </p:nvSpPr>
        <p:spPr>
          <a:xfrm>
            <a:off x="515982" y="386442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outlets covered the launch</a:t>
            </a:r>
            <a:endParaRPr lang="en-US" sz="2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6F38649C-7B05-D7E9-6505-71619EF91B16}"/>
              </a:ext>
            </a:extLst>
          </p:cNvPr>
          <p:cNvSpPr/>
          <p:nvPr/>
        </p:nvSpPr>
        <p:spPr>
          <a:xfrm>
            <a:off x="3304902" y="3224349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FD3FFA76-2355-7355-01E2-3E4062673D21}"/>
              </a:ext>
            </a:extLst>
          </p:cNvPr>
          <p:cNvSpPr/>
          <p:nvPr/>
        </p:nvSpPr>
        <p:spPr>
          <a:xfrm>
            <a:off x="3304902" y="3234787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3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70ED36AE-9746-BC03-7425-D43A1B769C2A}"/>
              </a:ext>
            </a:extLst>
          </p:cNvPr>
          <p:cNvSpPr/>
          <p:nvPr/>
        </p:nvSpPr>
        <p:spPr>
          <a:xfrm>
            <a:off x="3304902" y="381870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and interviews, Sept.–Nov.</a:t>
            </a:r>
            <a:endParaRPr lang="en-US" sz="2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79C8BF8B-D585-7F2A-07BE-79D38A755164}"/>
              </a:ext>
            </a:extLst>
          </p:cNvPr>
          <p:cNvSpPr/>
          <p:nvPr/>
        </p:nvSpPr>
        <p:spPr>
          <a:xfrm>
            <a:off x="515982" y="4687389"/>
            <a:ext cx="11091672" cy="1645920"/>
          </a:xfrm>
          <a:prstGeom prst="roundRect">
            <a:avLst>
              <a:gd name="adj" fmla="val 3889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968B8353-70D2-2BDA-AFD7-325C1903FA7F}"/>
              </a:ext>
            </a:extLst>
          </p:cNvPr>
          <p:cNvSpPr/>
          <p:nvPr/>
        </p:nvSpPr>
        <p:spPr>
          <a:xfrm>
            <a:off x="836022" y="4915989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buNone/>
            </a:pPr>
            <a:r>
              <a:rPr sz="1500" b="1" i="0">
                <a:solidFill>
                  <a:srgbClr val="2E7D5B"/>
                </a:solidFill>
              </a:rPr>
              <a:t>Coverage includes: </a:t>
            </a:r>
            <a:r>
              <a:rPr sz="1500" b="0" i="0">
                <a:solidFill>
                  <a:srgbClr val="262626"/>
                </a:solidFill>
              </a:rPr>
              <a:t>ITU press release · Reuters (syndicated by Yahoo Finance, AOL, US News, TradingView, The Star) · The Next Web · Developing Telecoms · Telecompaper · The Fast Mode · insideAI News · Nairametrics · IT-Online · Panodyssey (FR/EN)</a:t>
            </a:r>
            <a:endParaRPr lang="en-US" sz="2400" dirty="0"/>
          </a:p>
          <a:p>
            <a:pPr>
              <a:spcBef>
                <a:spcPts val="600"/>
              </a:spcBef>
              <a:buNone/>
            </a:pPr>
            <a:r>
              <a:rPr sz="1500" b="0" i="0">
                <a:solidFill>
                  <a:srgbClr val="262626"/>
                </a:solidFill>
              </a:rPr>
              <a:t>Full list and events: </a:t>
            </a:r>
            <a:r>
              <a:rPr sz="1500" b="1" i="0">
                <a:solidFill>
                  <a:srgbClr val="0563C1"/>
                </a:solidFill>
                <a:hlinkClick r:id="rId7"/>
              </a:rPr>
              <a:t>tida.community/news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EA1A2F07-0E9D-DC69-3AAF-EA0150D671CC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E2E45FE-3D41-3280-3298-B64879F67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56" y="290956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Supporters (see tida.community)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27B38D-EF8A-09C2-A29F-2C6B2AECB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54950E-F8A7-3D8B-29F8-E8A9DCFF8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19" r="59744" b="75636"/>
          <a:stretch>
            <a:fillRect/>
          </a:stretch>
        </p:blipFill>
        <p:spPr>
          <a:xfrm>
            <a:off x="4123218" y="2903135"/>
            <a:ext cx="3523806" cy="1631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5F3557-E06D-2AB3-3E6D-B3A3F608C6E1}"/>
              </a:ext>
            </a:extLst>
          </p:cNvPr>
          <p:cNvSpPr txBox="1"/>
          <p:nvPr/>
        </p:nvSpPr>
        <p:spPr>
          <a:xfrm>
            <a:off x="578307" y="1926882"/>
            <a:ext cx="8593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Supported by governments, industry, institutions and academia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C90717-2446-DD43-F056-15E87BA6B5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9" t="2722" r="84670" b="79525"/>
          <a:stretch>
            <a:fillRect/>
          </a:stretch>
        </p:blipFill>
        <p:spPr>
          <a:xfrm>
            <a:off x="9746740" y="4694365"/>
            <a:ext cx="2168536" cy="1265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95DE09-48E1-4361-5A93-50646090D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0" t="18608" r="82880" b="49582"/>
          <a:stretch>
            <a:fillRect/>
          </a:stretch>
        </p:blipFill>
        <p:spPr>
          <a:xfrm>
            <a:off x="3145825" y="2335576"/>
            <a:ext cx="1660358" cy="1371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900779-E6FB-6F86-DE24-E64F9E7D32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960" b="67960"/>
          <a:stretch>
            <a:fillRect/>
          </a:stretch>
        </p:blipFill>
        <p:spPr>
          <a:xfrm>
            <a:off x="9247891" y="2373051"/>
            <a:ext cx="2673333" cy="12396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99AB38B-EC89-40A0-1B1E-35C6D841A0C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736" t="36509" r="61632" b="34856"/>
          <a:stretch>
            <a:fillRect/>
          </a:stretch>
        </p:blipFill>
        <p:spPr>
          <a:xfrm>
            <a:off x="0" y="2990232"/>
            <a:ext cx="2430380" cy="9783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5E4737-3342-EB42-A8B8-3E2DF7BADF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9119" t="67960" r="39303" b="7740"/>
          <a:stretch>
            <a:fillRect/>
          </a:stretch>
        </p:blipFill>
        <p:spPr>
          <a:xfrm>
            <a:off x="7269215" y="4552479"/>
            <a:ext cx="2541950" cy="8301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62CEE0-4DAB-E2E9-6729-41D53F3278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7802" r="78560"/>
          <a:stretch>
            <a:fillRect/>
          </a:stretch>
        </p:blipFill>
        <p:spPr>
          <a:xfrm>
            <a:off x="4919476" y="4300732"/>
            <a:ext cx="2541951" cy="9783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E7ECE6-F670-7D36-A5FA-4BE80F2708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996" r="58564" b="72344"/>
          <a:stretch>
            <a:fillRect/>
          </a:stretch>
        </p:blipFill>
        <p:spPr>
          <a:xfrm>
            <a:off x="433137" y="5351032"/>
            <a:ext cx="2541950" cy="12188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4CEB4B-C965-6CCD-F7D0-A987ECA8A9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044" t="74297" r="42396"/>
          <a:stretch>
            <a:fillRect/>
          </a:stretch>
        </p:blipFill>
        <p:spPr>
          <a:xfrm>
            <a:off x="276724" y="3968536"/>
            <a:ext cx="1844844" cy="113275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FBEDBA-4D2D-9435-190C-A94C21301A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504" t="80755" r="64037" b="6539"/>
          <a:stretch>
            <a:fillRect/>
          </a:stretch>
        </p:blipFill>
        <p:spPr>
          <a:xfrm>
            <a:off x="9313581" y="3380581"/>
            <a:ext cx="2541951" cy="11478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8196A4B-3C54-A327-A063-F0C7C0B90B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8890" t="26522" r="18562" b="48060"/>
          <a:stretch>
            <a:fillRect/>
          </a:stretch>
        </p:blipFill>
        <p:spPr>
          <a:xfrm>
            <a:off x="8445225" y="5663330"/>
            <a:ext cx="2673333" cy="112018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584CB3-D346-AED8-F684-009BBA05D3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747" t="59192" r="47842"/>
          <a:stretch>
            <a:fillRect/>
          </a:stretch>
        </p:blipFill>
        <p:spPr>
          <a:xfrm>
            <a:off x="2236450" y="3824184"/>
            <a:ext cx="1725022" cy="14019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0BE9804-13E6-6357-0130-E9BBF277EC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520" t="67205" r="6155" b="9639"/>
          <a:stretch>
            <a:fillRect/>
          </a:stretch>
        </p:blipFill>
        <p:spPr>
          <a:xfrm>
            <a:off x="4397806" y="5478072"/>
            <a:ext cx="3637366" cy="1265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D071DC-6CAD-4AE6-AAC4-81DD624497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800" t="38607" r="11876" b="22481"/>
          <a:stretch>
            <a:fillRect/>
          </a:stretch>
        </p:blipFill>
        <p:spPr>
          <a:xfrm>
            <a:off x="2738683" y="5343168"/>
            <a:ext cx="1659123" cy="13071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2514600"/>
            <a:ext cx="2651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56082"/>
                </a:solidFill>
              </a:rPr>
              <a:t>40+ supporters</a:t>
            </a:r>
          </a:p>
          <a:p>
            <a:pPr algn="ctr"/>
            <a:r>
              <a:rPr sz="1400">
                <a:solidFill>
                  <a:srgbClr val="262626"/>
                </a:solidFill>
                <a:hlinkClick r:id="rId8"/>
              </a:rPr>
              <a:t>full list at tida.community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D1D0B4E9-113F-1B59-9C78-028D9DA8AC8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A606E3-0F92-7615-B925-127DA6E2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How to join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50198F-17D5-680D-FED5-6526C305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15982" y="2000000"/>
            <a:ext cx="4000000" cy="240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00000" y="2100000"/>
            <a:ext cx="3830000" cy="2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600" b="1" i="0">
                <a:solidFill>
                  <a:srgbClr val="13294B"/>
                </a:solidFill>
              </a:rPr>
              <a:t>218</a:t>
            </a:r>
          </a:p>
          <a:p>
            <a:pPr algn="ctr">
              <a:spcBef>
                <a:spcPts val="800"/>
              </a:spcBef>
              <a:buNone/>
            </a:pPr>
            <a:r>
              <a:rPr sz="1500" b="0" i="0">
                <a:solidFill>
                  <a:srgbClr val="6B7785"/>
                </a:solidFill>
              </a:rPr>
              <a:t>registered participants (as of 20 October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000" y="1950000"/>
            <a:ext cx="69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000" b="1" i="0">
                <a:solidFill>
                  <a:schemeClr val="accent1"/>
                </a:solidFill>
              </a:rPr>
              <a:t>How to join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700" b="1" i="0">
                <a:solidFill>
                  <a:srgbClr val="156082"/>
                </a:solidFill>
              </a:rPr>
              <a:t>Create a free ITU user account</a:t>
            </a:r>
            <a:r>
              <a:rPr sz="1700" b="0" i="0">
                <a:solidFill>
                  <a:srgbClr val="262626"/>
                </a:solidFill>
              </a:rPr>
              <a:t>, then register on the FG-TIDA registration page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700" b="1" i="0">
                <a:solidFill>
                  <a:srgbClr val="156082"/>
                </a:solidFill>
              </a:rPr>
              <a:t>Mailing list: </a:t>
            </a:r>
            <a:r>
              <a:rPr sz="1700" b="0" i="0">
                <a:solidFill>
                  <a:srgbClr val="262626"/>
                </a:solidFill>
              </a:rPr>
              <a:t>registered participants are subscribed to fgtida@lists.itu.int (archive available with an ITU account)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700" b="1" i="0">
                <a:solidFill>
                  <a:srgbClr val="156082"/>
                </a:solidFill>
              </a:rPr>
              <a:t>Free of charge</a:t>
            </a:r>
            <a:r>
              <a:rPr sz="1700" b="0" i="0">
                <a:solidFill>
                  <a:srgbClr val="262626"/>
                </a:solidFill>
              </a:rPr>
              <a:t> — no ITU membership required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700" b="1" i="0">
                <a:solidFill>
                  <a:srgbClr val="156082"/>
                </a:solidFill>
              </a:rPr>
              <a:t>No access to GitHub? </a:t>
            </a:r>
            <a:r>
              <a:rPr sz="1700" b="0" i="0">
                <a:solidFill>
                  <a:srgbClr val="262626"/>
                </a:solidFill>
              </a:rPr>
              <a:t>The repositories are mirrored on the ITU GitLab; request access from tsbfgtida@itu.int</a:t>
            </a:r>
          </a:p>
          <a:p>
            <a:pPr>
              <a:spcBef>
                <a:spcPts val="1600"/>
              </a:spcBef>
              <a:buNone/>
            </a:pPr>
            <a:r>
              <a:rPr sz="2000" b="1" i="0">
                <a:solidFill>
                  <a:schemeClr val="accent1"/>
                </a:solidFill>
              </a:rPr>
              <a:t>Participation so far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700" b="1" i="0">
                <a:solidFill>
                  <a:srgbClr val="156082"/>
                </a:solidFill>
              </a:rPr>
              <a:t>Preparation meetings: </a:t>
            </a:r>
            <a:r>
              <a:rPr sz="1700" b="0" i="0">
                <a:solidFill>
                  <a:srgbClr val="262626"/>
                </a:solidFill>
              </a:rPr>
              <a:t>60 → 100 → 144 → 125 participants (29 Jul – 14 Oct 2026)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700" b="1" i="0">
                <a:solidFill>
                  <a:srgbClr val="156082"/>
                </a:solidFill>
              </a:rPr>
              <a:t>Paris: </a:t>
            </a:r>
            <a:r>
              <a:rPr sz="1700" b="0" i="0">
                <a:solidFill>
                  <a:srgbClr val="262626"/>
                </a:solidFill>
              </a:rPr>
              <a:t>register through the online form by 20 November 2026; seats are 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D1D0B4E9-113F-1B59-9C78-028D9DA8AC8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A606E3-0F92-7615-B925-127DA6E2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Interregnum meetings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50198F-17D5-680D-FED5-6526C305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50000" y="1850000"/>
            <a:ext cx="475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700" b="1" i="0">
                <a:solidFill>
                  <a:schemeClr val="accent1"/>
                </a:solidFill>
              </a:rPr>
              <a:t>Virtual meetings to prepare structure, leadership and deliverables for Paris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sz="1500" b="1" i="0">
                <a:solidFill>
                  <a:srgbClr val="156082"/>
                </a:solidFill>
              </a:rPr>
              <a:t>29 Jul</a:t>
            </a:r>
            <a:r>
              <a:rPr sz="1500" b="0" i="0">
                <a:solidFill>
                  <a:srgbClr val="262626"/>
                </a:solidFill>
              </a:rPr>
              <a:t> — path so far; six candidate Working Group ideas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500" b="1" i="0">
                <a:solidFill>
                  <a:srgbClr val="156082"/>
                </a:solidFill>
              </a:rPr>
              <a:t>2 Sep</a:t>
            </a:r>
            <a:r>
              <a:rPr sz="1500" b="0" i="0">
                <a:solidFill>
                  <a:srgbClr val="262626"/>
                </a:solidFill>
              </a:rPr>
              <a:t> — Paris programme; use-case template; themes #4, #6, remote attestation teaser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500" b="1" i="0">
                <a:solidFill>
                  <a:srgbClr val="156082"/>
                </a:solidFill>
              </a:rPr>
              <a:t>30 Sep</a:t>
            </a:r>
            <a:r>
              <a:rPr sz="1500" b="0" i="0">
                <a:solidFill>
                  <a:srgbClr val="262626"/>
                </a:solidFill>
              </a:rPr>
              <a:t> — Use Cases WG and spec template live; themes #22, #25, #23 (up to 137 connected simultaneously)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500" b="1" i="0">
                <a:solidFill>
                  <a:srgbClr val="156082"/>
                </a:solidFill>
              </a:rPr>
              <a:t>14 Oct</a:t>
            </a:r>
            <a:r>
              <a:rPr sz="1500" b="0" i="0">
                <a:solidFill>
                  <a:srgbClr val="262626"/>
                </a:solidFill>
              </a:rPr>
              <a:t> — 4th preparation meeting (additional, 125 participants): themes #18 and #2; SG17 Chair on the ITU process; GitLab mirror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sz="1500" b="1" i="0">
                <a:solidFill>
                  <a:srgbClr val="156082"/>
                </a:solidFill>
              </a:rPr>
              <a:t>4 Nov</a:t>
            </a:r>
            <a:r>
              <a:rPr sz="1500" b="0" i="0">
                <a:solidFill>
                  <a:srgbClr val="262626"/>
                </a:solidFill>
              </a:rPr>
              <a:t> — 5th preparation meeting (virtual)</a:t>
            </a:r>
          </a:p>
          <a:p>
            <a:pPr>
              <a:spcBef>
                <a:spcPts val="1000"/>
              </a:spcBef>
              <a:buNone/>
            </a:pPr>
            <a:r>
              <a:rPr sz="1500" b="0" i="0">
                <a:solidFill>
                  <a:srgbClr val="0563C1"/>
                </a:solidFill>
                <a:hlinkClick r:id="rId4"/>
              </a:rPr>
              <a:t>Minutes: github.com/FG-TIDA/meetings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7</a:t>
            </a:r>
          </a:p>
        </p:txBody>
      </p:sp>
      <p:pic>
        <p:nvPicPr>
          <p:cNvPr id="18" name="Picture 17" descr="chart_v2.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00" y="1800000"/>
            <a:ext cx="6552381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07EF1ABB-0FDF-41EC-E63C-4FB0587C44D3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B2CA1DF-0418-BC15-3989-C679FAED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Our GitHub space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4793A6-877D-7840-A3F0-DCB3ACBD1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FA7D6-240E-5D23-392C-F1211F29FA56}"/>
              </a:ext>
            </a:extLst>
          </p:cNvPr>
          <p:cNvSpPr txBox="1"/>
          <p:nvPr/>
        </p:nvSpPr>
        <p:spPr>
          <a:xfrm>
            <a:off x="1554480" y="182880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5"/>
              </a:rPr>
              <a:t>TIDA · GitHub</a:t>
            </a:r>
            <a:endParaRPr lang="en-US" sz="4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252C88-D4D3-9B94-0187-F44448B8C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83080"/>
            <a:ext cx="868680" cy="868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2834640"/>
            <a:ext cx="7635240" cy="6400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u="sng">
                <a:solidFill>
                  <a:srgbClr val="0563C1"/>
                </a:solidFill>
                <a:hlinkClick r:id="rId6"/>
              </a:rPr>
              <a:t>themes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834640"/>
            <a:ext cx="5532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Theme proposals that will shape the Working Groups</a:t>
            </a:r>
            <a:r>
              <a:rPr sz="1350" b="1">
                <a:solidFill>
                  <a:srgbClr val="156082"/>
                </a:solidFill>
              </a:rPr>
              <a:t> (43 submitted)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9584"/>
            <a:ext cx="7635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29584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u="sng">
                <a:solidFill>
                  <a:srgbClr val="0563C1"/>
                </a:solidFill>
                <a:hlinkClick r:id="rId7"/>
              </a:rPr>
              <a:t>use-cases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529584"/>
            <a:ext cx="5532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Use Cases WG: template, submissions and index</a:t>
            </a:r>
            <a:r>
              <a:rPr sz="1350" b="1">
                <a:solidFill>
                  <a:srgbClr val="156082"/>
                </a:solidFill>
              </a:rPr>
              <a:t> (25 submitted)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24528"/>
            <a:ext cx="7635240" cy="6400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8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u="sng">
                <a:solidFill>
                  <a:srgbClr val="0563C1"/>
                </a:solidFill>
                <a:hlinkClick r:id="rId8"/>
              </a:rPr>
              <a:t>spec-template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224528"/>
            <a:ext cx="5532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Common FG-TIDA specification template (reStructuredText, built to HTML and PDF)</a:t>
            </a:r>
            <a:r>
              <a:rPr sz="1350" b="1">
                <a:solidFill>
                  <a:srgbClr val="156082"/>
                </a:solidFill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19472"/>
            <a:ext cx="7635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19472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u="sng">
                <a:solidFill>
                  <a:srgbClr val="0563C1"/>
                </a:solidFill>
                <a:hlinkClick r:id="rId9"/>
              </a:rPr>
              <a:t>wg1-ra-aai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919472"/>
            <a:ext cx="5532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First WG repository (dry run): Remote Attestation for Agentic AI, published online</a:t>
            </a:r>
            <a:r>
              <a:rPr sz="1350" b="1">
                <a:solidFill>
                  <a:srgbClr val="156082"/>
                </a:solidFill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14416"/>
            <a:ext cx="7635240" cy="6400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14416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u="sng">
                <a:solidFill>
                  <a:srgbClr val="0563C1"/>
                </a:solidFill>
                <a:hlinkClick r:id="rId10"/>
              </a:rPr>
              <a:t>meetings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614416"/>
            <a:ext cx="5532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Agendas and minutes of the preparation meetings</a:t>
            </a:r>
            <a:r>
              <a:rPr sz="1350" b="1">
                <a:solidFill>
                  <a:srgbClr val="156082"/>
                </a:solidFill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834640"/>
            <a:ext cx="3291840" cy="3419856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2834640"/>
            <a:ext cx="3291840" cy="5029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83464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3294B"/>
                </a:solidFill>
              </a:rPr>
              <a:t>Cannot use GitHub?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01568"/>
            <a:ext cx="31089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56082"/>
                </a:solidFill>
              </a:rPr>
              <a:t>An ITU GitLab mirror</a:t>
            </a:r>
            <a:r>
              <a:rPr sz="1400" b="0">
                <a:solidFill>
                  <a:srgbClr val="262626"/>
                </a:solidFill>
              </a:rPr>
              <a:t> for participants who cannot access GitHub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56082"/>
                </a:solidFill>
              </a:rPr>
              <a:t>Two-way automatic synchronisation</a:t>
            </a:r>
            <a:r>
              <a:rPr sz="1300" b="0">
                <a:solidFill>
                  <a:srgbClr val="262626"/>
                </a:solidFill>
              </a:rPr>
              <a:t>: contributions made on either platform appear on the other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56082"/>
                </a:solidFill>
              </a:rPr>
              <a:t>GitHub remains the master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56082"/>
                </a:solidFill>
              </a:rPr>
              <a:t>Access: </a:t>
            </a:r>
            <a:r>
              <a:rPr sz="1300" b="0">
                <a:solidFill>
                  <a:srgbClr val="262626"/>
                </a:solidFill>
              </a:rPr>
              <a:t>create a GitLab account, then write to tsbfgtida@itu.int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69436C83-0FC5-19E0-B643-C0B5743DC07E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2CDBEE-1F58-A19A-7083-FACDE5BE5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Themes: 43 proposals, 38 open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81F2AA-B981-BD81-FC7F-C2E8CB881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71907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56082"/>
                </a:solidFill>
              </a:rPr>
              <a:t>Proposals are discussed as GitHub issues</a:t>
            </a:r>
            <a:r>
              <a:rPr sz="1500" b="0">
                <a:solidFill>
                  <a:srgbClr val="262626"/>
                </a:solidFill>
              </a:rPr>
              <a:t>; a few are presented at each preparation meeting, and they will inform the </a:t>
            </a:r>
            <a:r>
              <a:rPr sz="1500" b="1">
                <a:solidFill>
                  <a:srgbClr val="156082"/>
                </a:solidFill>
              </a:rPr>
              <a:t>Working Groups (max ~5) fixed in Paris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49BD6"/>
                </a:solidFill>
              </a:rPr>
              <a:t>Presented so far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97480"/>
            <a:ext cx="960120" cy="868680"/>
          </a:xfrm>
          <a:prstGeom prst="roundRect">
            <a:avLst>
              <a:gd name="adj" fmla="val 6000"/>
            </a:avLst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97480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2 Sep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2697480"/>
            <a:ext cx="45262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697480"/>
            <a:ext cx="4434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56082"/>
                </a:solidFill>
              </a:rPr>
              <a:t>#4</a:t>
            </a:r>
            <a:r>
              <a:rPr sz="1250" b="0">
                <a:solidFill>
                  <a:srgbClr val="262626"/>
                </a:solidFill>
              </a:rPr>
              <a:t> Access control and policy enforcement with metamorphic AI agents · </a:t>
            </a:r>
            <a:r>
              <a:rPr sz="1250" b="1">
                <a:solidFill>
                  <a:srgbClr val="156082"/>
                </a:solidFill>
              </a:rPr>
              <a:t>#6</a:t>
            </a:r>
            <a:r>
              <a:rPr sz="1250" b="0">
                <a:solidFill>
                  <a:srgbClr val="262626"/>
                </a:solidFill>
              </a:rPr>
              <a:t> Intent-based security policies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39312"/>
            <a:ext cx="960120" cy="868680"/>
          </a:xfrm>
          <a:prstGeom prst="roundRect">
            <a:avLst>
              <a:gd name="adj" fmla="val 6000"/>
            </a:avLst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39312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30 Sep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3639312"/>
            <a:ext cx="45262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639312"/>
            <a:ext cx="4434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56082"/>
                </a:solidFill>
              </a:rPr>
              <a:t>#22</a:t>
            </a:r>
            <a:r>
              <a:rPr sz="1250" b="0">
                <a:solidFill>
                  <a:srgbClr val="262626"/>
                </a:solidFill>
              </a:rPr>
              <a:t> Remote Attestation for Agentic AI · </a:t>
            </a:r>
            <a:r>
              <a:rPr sz="1250" b="1">
                <a:solidFill>
                  <a:srgbClr val="156082"/>
                </a:solidFill>
              </a:rPr>
              <a:t>#25</a:t>
            </a:r>
            <a:r>
              <a:rPr sz="1250" b="0">
                <a:solidFill>
                  <a:srgbClr val="262626"/>
                </a:solidFill>
              </a:rPr>
              <a:t> Age-aware identity and delegated authority · </a:t>
            </a:r>
            <a:r>
              <a:rPr sz="1250" b="1">
                <a:solidFill>
                  <a:srgbClr val="156082"/>
                </a:solidFill>
              </a:rPr>
              <a:t>#23</a:t>
            </a:r>
            <a:r>
              <a:rPr sz="1250" b="0">
                <a:solidFill>
                  <a:srgbClr val="262626"/>
                </a:solidFill>
              </a:rPr>
              <a:t> Authorization and privilege lifecycle of AI agents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81144"/>
            <a:ext cx="960120" cy="868680"/>
          </a:xfrm>
          <a:prstGeom prst="roundRect">
            <a:avLst>
              <a:gd name="adj" fmla="val 6000"/>
            </a:avLst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81144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14 Oct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4581144"/>
            <a:ext cx="45262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581144"/>
            <a:ext cx="4434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56082"/>
                </a:solidFill>
              </a:rPr>
              <a:t>#18</a:t>
            </a:r>
            <a:r>
              <a:rPr sz="1250" b="0">
                <a:solidFill>
                  <a:srgbClr val="262626"/>
                </a:solidFill>
              </a:rPr>
              <a:t> Trustworthiness of multi-objective agentic AI · </a:t>
            </a:r>
            <a:r>
              <a:rPr sz="1250" b="1">
                <a:solidFill>
                  <a:srgbClr val="156082"/>
                </a:solidFill>
              </a:rPr>
              <a:t>#2</a:t>
            </a:r>
            <a:r>
              <a:rPr sz="1250" b="0">
                <a:solidFill>
                  <a:srgbClr val="262626"/>
                </a:solidFill>
              </a:rPr>
              <a:t> Sovereign discovery ++ modularity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286000"/>
            <a:ext cx="5394960" cy="3227832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331720"/>
            <a:ext cx="5212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6082"/>
                </a:solidFill>
              </a:rPr>
              <a:t>New since 8 October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56082"/>
                </a:solidFill>
              </a:rPr>
              <a:t>#45  </a:t>
            </a:r>
            <a:r>
              <a:rPr sz="1300" b="0">
                <a:solidFill>
                  <a:srgbClr val="262626"/>
                </a:solidFill>
              </a:rPr>
              <a:t>Subject-anchored identity, delegation and discovery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56082"/>
                </a:solidFill>
              </a:rPr>
              <a:t>#44  </a:t>
            </a:r>
            <a:r>
              <a:rPr sz="1300" b="0">
                <a:solidFill>
                  <a:srgbClr val="262626"/>
                </a:solidFill>
              </a:rPr>
              <a:t>Security of agentic AI: from benchmarks and community controls to evidence of trust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56082"/>
                </a:solidFill>
              </a:rPr>
              <a:t>#42  </a:t>
            </a:r>
            <a:r>
              <a:rPr sz="1300" b="0">
                <a:solidFill>
                  <a:srgbClr val="262626"/>
                </a:solidFill>
              </a:rPr>
              <a:t>Evidence grading for verifier decisions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56082"/>
                </a:solidFill>
              </a:rPr>
              <a:t>#41  </a:t>
            </a:r>
            <a:r>
              <a:rPr sz="1300" b="0">
                <a:solidFill>
                  <a:srgbClr val="262626"/>
                </a:solidFill>
              </a:rPr>
              <a:t>Governance and regulatory frameworks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56082"/>
                </a:solidFill>
              </a:rPr>
              <a:t>#37  </a:t>
            </a:r>
            <a:r>
              <a:rPr sz="1300" b="0">
                <a:solidFill>
                  <a:srgbClr val="262626"/>
                </a:solidFill>
              </a:rPr>
              <a:t>Moderators of AI trustworthiness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56082"/>
                </a:solidFill>
              </a:rPr>
              <a:t>#36  </a:t>
            </a:r>
            <a:r>
              <a:rPr sz="1300" b="0">
                <a:solidFill>
                  <a:srgbClr val="262626"/>
                </a:solidFill>
              </a:rPr>
              <a:t>Identity–behaviour–enforcement mismatch for AI agents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23560"/>
            <a:ext cx="11155680" cy="6858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56082"/>
                </a:solidFill>
              </a:rPr>
              <a:t>Earlier examples: </a:t>
            </a:r>
            <a:r>
              <a:rPr sz="1250" b="0">
                <a:solidFill>
                  <a:srgbClr val="262626"/>
                </a:solidFill>
              </a:rPr>
              <a:t>provenance of authority · global trust and accountability · trust management for digital ID · human oversight · agentic AI and embodied systems · telco-grade identity and delegation · supply chain · terminology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69436C83-0FC5-19E0-B643-C0B5743DC07E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2CDBEE-1F58-A19A-7083-FACDE5BE5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Use cases: 25 submitted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81F2AA-B981-BD81-FC7F-C2E8CB881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171907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082"/>
                </a:solidFill>
              </a:rPr>
              <a:t>Use Cases Working Group live since September</a:t>
            </a:r>
            <a:r>
              <a:rPr sz="1500" b="0">
                <a:solidFill>
                  <a:srgbClr val="262626"/>
                </a:solidFill>
              </a:rPr>
              <a:t> (FG-TIDA/use-cases): common template, submissions as GitHub issues, queryable index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56082"/>
                </a:solidFill>
              </a:rPr>
              <a:t>Use cases ground the work in concrete situations</a:t>
            </a:r>
            <a:r>
              <a:rPr sz="1500" b="0">
                <a:solidFill>
                  <a:srgbClr val="262626"/>
                </a:solidFill>
              </a:rPr>
              <a:t>, from all sectors and perspectives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49BD6"/>
                </a:solidFill>
              </a:rPr>
              <a:t>Examples</a:t>
            </a:r>
            <a:r>
              <a:rPr sz="1600" b="0">
                <a:solidFill>
                  <a:srgbClr val="6B7785"/>
                </a:solidFill>
              </a:rPr>
              <a:t>  (including 11 new since 8 October)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7180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71800"/>
            <a:ext cx="3611880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081528"/>
            <a:ext cx="3520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56082"/>
                </a:solidFill>
              </a:rPr>
              <a:t>PUBLIC SERVICES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Citizen's AI assistant applies for a public service, with an operator in the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97180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971800"/>
            <a:ext cx="3611880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399" y="3081528"/>
            <a:ext cx="3520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56082"/>
                </a:solidFill>
              </a:rPr>
              <a:t>ENTERPRISE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Enterprise procurement with multi-level delegation and cumulative limits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97180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19" y="2971800"/>
            <a:ext cx="3611880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081528"/>
            <a:ext cx="3520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56082"/>
                </a:solidFill>
              </a:rPr>
              <a:t>PAYMENTS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A seller checks the paying agent's attested software before accepting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9768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3611880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07408"/>
            <a:ext cx="3520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56082"/>
                </a:solidFill>
              </a:rPr>
              <a:t>PAYMENTS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Upstream model update invalidates derived payment authority mid-chain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429768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4297680"/>
            <a:ext cx="3611880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399" y="4407408"/>
            <a:ext cx="3520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56082"/>
                </a:solidFill>
              </a:rPr>
              <a:t>ACCOUNTABILITY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One prompt, 168 hours: reconstructing what an unattended agent did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4297680"/>
            <a:ext cx="3611880" cy="11887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4297680"/>
            <a:ext cx="3611880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4407408"/>
            <a:ext cx="3520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56082"/>
                </a:solidFill>
              </a:rPr>
              <a:t>CHILD PROTECTION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Child-aware AI agent acting across services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69280"/>
            <a:ext cx="11155680" cy="56692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66928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C000"/>
                </a:solidFill>
              </a:rPr>
              <a:t>Next: </a:t>
            </a:r>
            <a:r>
              <a:rPr sz="1500" b="1">
                <a:solidFill>
                  <a:srgbClr val="FFFFFF"/>
                </a:solidFill>
              </a:rPr>
              <a:t>qualify and classify the submissions; a dedicated use-case session in Paris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D3D298F7-A37F-A111-30EF-FC17DDF9624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024863-7ECA-4C70-2749-410819BC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Preparing Paris (30 Nov.–1 Dec.)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705758-91A9-6116-9E57-987744865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18F127-71BB-8612-9A11-0ABD08A9DA80}"/>
              </a:ext>
            </a:extLst>
          </p:cNvPr>
          <p:cNvSpPr txBox="1"/>
          <p:nvPr/>
        </p:nvSpPr>
        <p:spPr>
          <a:xfrm>
            <a:off x="700000" y="1780000"/>
            <a:ext cx="10900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buFont typeface="+mj-lt"/>
              <a:buAutoNum type="arabicPeriod"/>
            </a:pPr>
            <a:r>
              <a:rPr sz="2000" b="1" i="0">
                <a:solidFill>
                  <a:schemeClr val="accent1"/>
                </a:solidFill>
              </a:rPr>
              <a:t>Announce the structure: Working Groups (max ~5) formed from the interregnum themes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2"/>
            </a:pPr>
            <a:r>
              <a:rPr sz="2000" b="1" i="0">
                <a:solidFill>
                  <a:schemeClr val="accent1"/>
                </a:solidFill>
              </a:rPr>
              <a:t>Confirm the leadership of the Working Groups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</a:pPr>
            <a:r>
              <a:rPr sz="2000" b="1" i="0">
                <a:solidFill>
                  <a:schemeClr val="accent1"/>
                </a:solidFill>
              </a:rPr>
              <a:t>Publish an initial definition of deliverables on GitHub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4"/>
            </a:pPr>
            <a:r>
              <a:rPr sz="2000" b="1" i="0">
                <a:solidFill>
                  <a:schemeClr val="accent1"/>
                </a:solidFill>
              </a:rPr>
              <a:t>Advance the technical work in person, including a dedicated use-case session</a:t>
            </a:r>
          </a:p>
          <a:p>
            <a:pPr>
              <a:spcBef>
                <a:spcPts val="1400"/>
              </a:spcBef>
              <a:buNone/>
            </a:pPr>
            <a:r>
              <a:rPr sz="1700" b="1" i="0">
                <a:solidFill>
                  <a:srgbClr val="13294B"/>
                </a:solidFill>
                <a:highlight>
                  <a:srgbClr val="F7BA21"/>
                </a:highlight>
              </a:rPr>
              <a:t>UNESCO Headquarters, hosted by the French Ministry of the Interior · limited seats · sponsorship package prepared by ITU</a:t>
            </a:r>
          </a:p>
        </p:txBody>
      </p:sp>
      <p:pic>
        <p:nvPicPr>
          <p:cNvPr id="2" name="Picture 1" descr="logo-unesco - Cooperation Concept">
            <a:extLst>
              <a:ext uri="{FF2B5EF4-FFF2-40B4-BE49-F238E27FC236}">
                <a16:creationId xmlns:a16="http://schemas.microsoft.com/office/drawing/2014/main" id="{6B25D20B-6B6E-EBE2-1987-9E3B5E6D2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694" y="5078621"/>
            <a:ext cx="1837388" cy="1395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77F97F-430B-C4ED-06F8-6B530E219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4953000"/>
            <a:ext cx="161925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8A4824-2475-F86F-3C8C-5BF13A71E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19" r="65484" b="80048"/>
          <a:stretch>
            <a:fillRect/>
          </a:stretch>
        </p:blipFill>
        <p:spPr>
          <a:xfrm>
            <a:off x="2043003" y="5078621"/>
            <a:ext cx="2886338" cy="15599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D1D0B4E9-113F-1B59-9C78-028D9DA8AC8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A606E3-0F92-7615-B925-127DA6E2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Next meetings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50198F-17D5-680D-FED5-6526C305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15982" y="1850000"/>
          <a:ext cx="11160000" cy="3600000"/>
        </p:xfrm>
        <a:graphic>
          <a:graphicData uri="http://schemas.openxmlformats.org/drawingml/2006/table">
            <a:tbl>
              <a:tblPr firstRow="0" bandRow="0"/>
              <a:tblGrid>
                <a:gridCol w="2700000"/>
                <a:gridCol w="8460000"/>
              </a:tblGrid>
              <a:tr h="6000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110000" marR="110000" anchor="ctr">
                    <a:solidFill>
                      <a:srgbClr val="049BD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Meeting</a:t>
                      </a:r>
                    </a:p>
                  </a:txBody>
                  <a:tcPr marL="110000" marR="110000" anchor="ctr">
                    <a:solidFill>
                      <a:srgbClr val="049BD6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3294B"/>
                          </a:solidFill>
                        </a:rPr>
                        <a:t>4 Nov. 2026</a:t>
                      </a:r>
                    </a:p>
                  </a:txBody>
                  <a:tcPr marL="110000" marR="110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</a:rPr>
                        <a:t>5th preparation meeting (virtual)</a:t>
                      </a:r>
                    </a:p>
                  </a:txBody>
                  <a:tcPr marL="110000" marR="110000" anchor="ctr">
                    <a:solidFill>
                      <a:srgbClr val="F3F6FB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3294B"/>
                          </a:solidFill>
                        </a:rPr>
                        <a:t>4 Nov. 2026</a:t>
                      </a:r>
                    </a:p>
                  </a:txBody>
                  <a:tcPr marL="110000" marR="1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</a:rPr>
                        <a:t>FG-TIDA presented at the World Internet Conference Wuzhen Summit — Forum on Mutual Trust, Interconnectivity and Interoperability of AI Agents</a:t>
                      </a:r>
                    </a:p>
                  </a:txBody>
                  <a:tcPr marL="110000" marR="11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3294B"/>
                          </a:solidFill>
                        </a:rPr>
                        <a:t>30 Nov.–1 Dec. 2026</a:t>
                      </a:r>
                    </a:p>
                  </a:txBody>
                  <a:tcPr marL="110000" marR="110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</a:rPr>
                        <a:t>1st FG-TIDA meeting, Paris (UNESCO HQ), hosted by the French Ministry of the Interior</a:t>
                      </a:r>
                    </a:p>
                  </a:txBody>
                  <a:tcPr marL="110000" marR="110000" anchor="ctr">
                    <a:solidFill>
                      <a:srgbClr val="F3F6FB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3294B"/>
                          </a:solidFill>
                        </a:rPr>
                        <a:t>25 Jan. 2027</a:t>
                      </a:r>
                    </a:p>
                  </a:txBody>
                  <a:tcPr marL="110000" marR="1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</a:rPr>
                        <a:t>SG17 workshop on Child Online Protection in the age of AI, Geneva</a:t>
                      </a:r>
                    </a:p>
                  </a:txBody>
                  <a:tcPr marL="110000" marR="11000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3294B"/>
                          </a:solidFill>
                        </a:rPr>
                        <a:t>26–27 Jan. 2027</a:t>
                      </a:r>
                    </a:p>
                  </a:txBody>
                  <a:tcPr marL="110000" marR="110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62626"/>
                          </a:solidFill>
                        </a:rPr>
                        <a:t>2nd FG-TIDA meeting, Geneva, during the SG17 meeting (18–29 Jan. 2027)</a:t>
                      </a:r>
                    </a:p>
                  </a:txBody>
                  <a:tcPr marL="110000" marR="110000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15982" y="5750000"/>
            <a:ext cx="1116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500" b="0" i="1">
                <a:solidFill>
                  <a:srgbClr val="6B7785"/>
                </a:solidFill>
              </a:rPr>
              <a:t>The overall SG17 planning, including FG-TIDA milestones, is in SG17-TD316/PLEN.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D1D0B4E9-113F-1B59-9C78-028D9DA8AC8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A606E3-0F92-7615-B925-127DA6E2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9450000" cy="1325563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Links and how to join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50198F-17D5-680D-FED5-6526C305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18288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828800"/>
            <a:ext cx="82296" cy="96012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865376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56082"/>
                </a:solidFill>
              </a:rPr>
              <a:t>FG-TIDA AT ITU</a:t>
            </a:r>
          </a:p>
          <a:p>
            <a:pPr algn="l">
              <a:spcAft>
                <a:spcPts val="400"/>
              </a:spcAft>
            </a:pPr>
            <a:r>
              <a:rPr sz="1700" b="0" u="sng">
                <a:solidFill>
                  <a:srgbClr val="0563C1"/>
                </a:solidFill>
                <a:hlinkClick r:id="rId3"/>
              </a:rPr>
              <a:t>itu.int/en/ITU-T/focusgroups/tida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288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828800"/>
            <a:ext cx="82296" cy="96012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65376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56082"/>
                </a:solidFill>
              </a:rPr>
              <a:t>REGISTER — FREE, NO ITU MEMBERSHIP NEEDED</a:t>
            </a:r>
          </a:p>
          <a:p>
            <a:pPr algn="l">
              <a:spcAft>
                <a:spcPts val="400"/>
              </a:spcAft>
            </a:pPr>
            <a:r>
              <a:rPr sz="1700" b="0" u="sng">
                <a:solidFill>
                  <a:srgbClr val="0563C1"/>
                </a:solidFill>
                <a:hlinkClick r:id="rId4"/>
              </a:rPr>
              <a:t>Registration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98648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898648"/>
            <a:ext cx="82296" cy="96012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56082"/>
                </a:solidFill>
              </a:rPr>
              <a:t>TERMS OF REFERENCE (SG17-TD295/PLEN)</a:t>
            </a:r>
          </a:p>
          <a:p>
            <a:pPr algn="l">
              <a:spcAft>
                <a:spcPts val="400"/>
              </a:spcAft>
            </a:pPr>
            <a:r>
              <a:rPr sz="1700" b="0" u="sng">
                <a:solidFill>
                  <a:srgbClr val="0563C1"/>
                </a:solidFill>
                <a:hlinkClick r:id="rId5"/>
              </a:rPr>
              <a:t>ToR 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898648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898648"/>
            <a:ext cx="82296" cy="96012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935224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56082"/>
                </a:solidFill>
              </a:rPr>
              <a:t>COMMUNITY SITE AND NEWS</a:t>
            </a:r>
          </a:p>
          <a:p>
            <a:pPr algn="l">
              <a:spcAft>
                <a:spcPts val="400"/>
              </a:spcAft>
            </a:pPr>
            <a:r>
              <a:rPr sz="1700" b="0" u="sng">
                <a:solidFill>
                  <a:srgbClr val="0563C1"/>
                </a:solidFill>
                <a:hlinkClick r:id="rId7"/>
              </a:rPr>
              <a:t>tida.community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68496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968496"/>
            <a:ext cx="82296" cy="96012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05072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56082"/>
                </a:solidFill>
              </a:rPr>
              <a:t>GITHUB (MASTER)</a:t>
            </a:r>
          </a:p>
          <a:p>
            <a:pPr algn="l">
              <a:spcAft>
                <a:spcPts val="400"/>
              </a:spcAft>
            </a:pPr>
            <a:r>
              <a:rPr sz="1700" b="0" u="sng">
                <a:solidFill>
                  <a:srgbClr val="0563C1"/>
                </a:solidFill>
                <a:hlinkClick r:id="rId6"/>
              </a:rPr>
              <a:t>github.com/FG-TIDA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68496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968496"/>
            <a:ext cx="82296" cy="96012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005072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56082"/>
                </a:solidFill>
              </a:rPr>
              <a:t>ITU GITLAB MIRROR</a:t>
            </a:r>
          </a:p>
          <a:p>
            <a:pPr algn="l">
              <a:spcAft>
                <a:spcPts val="400"/>
              </a:spcAft>
            </a:pPr>
            <a:r>
              <a:rPr sz="1700" b="0" u="sng">
                <a:solidFill>
                  <a:srgbClr val="0563C1"/>
                </a:solidFill>
                <a:hlinkClick r:id="rId8"/>
              </a:rPr>
              <a:t>itu.int/itad/gitlab</a:t>
            </a:r>
            <a:r>
              <a:rPr sz="1700" b="0">
                <a:solidFill>
                  <a:srgbClr val="262626"/>
                </a:solidFill>
              </a:rPr>
              <a:t>  — access via tsbfgtida@itu.int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38344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38344"/>
            <a:ext cx="82296" cy="96012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074920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56082"/>
                </a:solidFill>
              </a:rPr>
              <a:t>MAILING LIST  ·  SECRETARIAT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262626"/>
                </a:solidFill>
              </a:rPr>
              <a:t>fgtida@lists.itu.int</a:t>
            </a:r>
            <a:r>
              <a:rPr sz="1700" b="0">
                <a:solidFill>
                  <a:srgbClr val="6B7785"/>
                </a:solidFill>
              </a:rPr>
              <a:t>  ·  </a:t>
            </a:r>
            <a:r>
              <a:rPr sz="1700" b="1">
                <a:solidFill>
                  <a:srgbClr val="262626"/>
                </a:solidFill>
              </a:rPr>
              <a:t>tsbfgtida@itu.int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038344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5038344"/>
            <a:ext cx="82296" cy="960120"/>
          </a:xfrm>
          <a:prstGeom prst="rect">
            <a:avLst/>
          </a:prstGeom>
          <a:solidFill>
            <a:srgbClr val="04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074920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56082"/>
                </a:solidFill>
              </a:rPr>
              <a:t>CO-CHAIRS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62626"/>
                </a:solidFill>
              </a:rPr>
              <a:t>Debora Comparin</a:t>
            </a:r>
            <a:r>
              <a:rPr sz="1300" b="0">
                <a:solidFill>
                  <a:srgbClr val="262626"/>
                </a:solidFill>
              </a:rPr>
              <a:t> — debora.comparin@thalesgroup.com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</a:rPr>
              <a:t>Amir Banifatemi</a:t>
            </a:r>
            <a:r>
              <a:rPr sz="1300" b="0">
                <a:solidFill>
                  <a:srgbClr val="262626"/>
                </a:solidFill>
              </a:rPr>
              <a:t> — amir@cognizant.com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>
            <a:extLst>
              <a:ext uri="{FF2B5EF4-FFF2-40B4-BE49-F238E27FC236}">
                <a16:creationId xmlns:a16="http://schemas.microsoft.com/office/drawing/2014/main" id="{F26EB1D6-3C65-EFEF-3F89-BB23E64AB81A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1C4886-EFB6-EE2A-C540-14927FA8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D4C387-83B3-51DA-53F3-17D302D1A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FF3BED-1C4D-6B4D-FE09-3F4B7D0FDB85}"/>
              </a:ext>
            </a:extLst>
          </p:cNvPr>
          <p:cNvSpPr txBox="1"/>
          <p:nvPr/>
        </p:nvSpPr>
        <p:spPr>
          <a:xfrm>
            <a:off x="1510770" y="3429000"/>
            <a:ext cx="82249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 FOR YOUR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B7785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Widescreen</PresentationFormat>
  <Paragraphs>67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Wingdings</vt:lpstr>
      <vt:lpstr>Office Theme</vt:lpstr>
      <vt:lpstr>Auto-reporting tools </vt:lpstr>
      <vt:lpstr>Our Mission</vt:lpstr>
      <vt:lpstr>See tida.community for full list of supporters </vt:lpstr>
      <vt:lpstr>TIDA = early stage consensus</vt:lpstr>
      <vt:lpstr>Why early stage consensus?</vt:lpstr>
      <vt:lpstr>9 July 2026: the launch of TIDA</vt:lpstr>
      <vt:lpstr>We have 12 proposals for Use Cases</vt:lpstr>
      <vt:lpstr>PowerPoint Presentation</vt:lpstr>
      <vt:lpstr>We have 28 proposals for Working Groups</vt:lpstr>
      <vt:lpstr>Our next steps</vt:lpstr>
      <vt:lpstr>Ongoing Discussions</vt:lpstr>
      <vt:lpstr>Engage in our GitHub space!</vt:lpstr>
      <vt:lpstr>Current TIDA Structure</vt:lpstr>
      <vt:lpstr>Feedback</vt:lpstr>
      <vt:lpstr>PowerPoint Presentation</vt:lpstr>
    </vt:vector>
  </TitlesOfParts>
  <Company>Thales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Nicolas</dc:creator>
  <cp:lastModifiedBy>COMPARIN Debora</cp:lastModifiedBy>
  <cp:revision>34</cp:revision>
  <dcterms:created xsi:type="dcterms:W3CDTF">2026-05-31T18:20:48Z</dcterms:created>
  <dcterms:modified xsi:type="dcterms:W3CDTF">2026-10-05T16:43:56Z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f20372f-9ab3-4551-9149-9f9b12e2c27e_Enabled">
    <vt:lpwstr>true</vt:lpwstr>
  </property>
  <property fmtid="{D5CDD505-2E9C-101B-9397-08002B2CF9AE}" pid="3" name="MSIP_Label_cf20372f-9ab3-4551-9149-9f9b12e2c27e_SetDate">
    <vt:lpwstr>2026-06-01T08:20:46Z</vt:lpwstr>
  </property>
  <property fmtid="{D5CDD505-2E9C-101B-9397-08002B2CF9AE}" pid="4" name="MSIP_Label_cf20372f-9ab3-4551-9149-9f9b12e2c27e_Method">
    <vt:lpwstr>Privileged</vt:lpwstr>
  </property>
  <property fmtid="{D5CDD505-2E9C-101B-9397-08002B2CF9AE}" pid="5" name="MSIP_Label_cf20372f-9ab3-4551-9149-9f9b12e2c27e_Name">
    <vt:lpwstr>DIS OPEN</vt:lpwstr>
  </property>
  <property fmtid="{D5CDD505-2E9C-101B-9397-08002B2CF9AE}" pid="6" name="MSIP_Label_cf20372f-9ab3-4551-9149-9f9b12e2c27e_SiteId">
    <vt:lpwstr>6e603289-5e46-4e26-ac7c-03a85420a9a5</vt:lpwstr>
  </property>
  <property fmtid="{D5CDD505-2E9C-101B-9397-08002B2CF9AE}" pid="7" name="MSIP_Label_cf20372f-9ab3-4551-9149-9f9b12e2c27e_ActionId">
    <vt:lpwstr>b678ddd5-4db5-4f0c-bf84-7ea5bdd9db4e</vt:lpwstr>
  </property>
  <property fmtid="{D5CDD505-2E9C-101B-9397-08002B2CF9AE}" pid="8" name="MSIP_Label_cf20372f-9ab3-4551-9149-9f9b12e2c27e_ContentBits">
    <vt:lpwstr>0</vt:lpwstr>
  </property>
  <property fmtid="{D5CDD505-2E9C-101B-9397-08002B2CF9AE}" pid="9" name="MSIP_Label_cf20372f-9ab3-4551-9149-9f9b12e2c27e_Tag">
    <vt:lpwstr>10, 0, 1, 1</vt:lpwstr>
  </property>
</Properties>
</file>