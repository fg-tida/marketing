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7"/>
  </p:notesMasterIdLst>
  <p:sldIdLst>
    <p:sldId id="1448944615" r:id="rId2"/>
    <p:sldId id="1448944647" r:id="rId3"/>
    <p:sldId id="1448944618" r:id="rId4"/>
    <p:sldId id="1448944639" r:id="rId5"/>
    <p:sldId id="1448944623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BA21"/>
    <a:srgbClr val="009EDB"/>
    <a:srgbClr val="049B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84188" autoAdjust="0"/>
  </p:normalViewPr>
  <p:slideViewPr>
    <p:cSldViewPr snapToGrid="0">
      <p:cViewPr varScale="1">
        <p:scale>
          <a:sx n="52" d="100"/>
          <a:sy n="52" d="100"/>
        </p:scale>
        <p:origin x="118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A7146AC-91B1-478C-8856-09A11651431C}" type="datetimeFigureOut">
              <a:rPr lang="en-US" smtClean="0"/>
              <a:t>10/6/2026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0E4243C-45DD-4622-9728-5080CDD53D1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46315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661645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0E4243C-45DD-4622-9728-5080CDD53D1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60633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CEF99A-C621-A186-5A2A-439FA6A14C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7807282-993E-F770-C64D-000F5A0E00E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0A57C8-5756-AE75-CF1C-5375052567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23BD65A-81E3-F0C7-DFA3-D06D6BEF6E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819E62-A837-D6A2-9052-E142B47C07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83601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2B5105-6DE9-82A8-A652-E2DC8195CC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9F9A48-AA36-36F2-E934-4AA153F34A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4E4DF7-6EDB-1667-8336-25835B4BA5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011BE4-69F7-AD77-8BCF-D4A07E31D5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BCCC25E-0590-FD43-18FF-0E44381D4E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03989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9D044-8043-0B05-8306-74637BE46F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DE70645-0B5F-D8E8-63EA-D6820A1AB27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8D432E-6DB2-BE1B-1C06-6FCFCFBCE3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E11E0-BA51-323C-CA78-DB0D4B6C56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3BE12F-E686-C38E-62BB-46D1797990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8732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39226-FAF3-B00D-B436-C12747DDB0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2FC885-3D02-32E4-4A70-745BA1E4313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95EFCB-8F0C-833F-601F-D59910C6C04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7883-2132-6ACF-B26D-218B10A41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89F917-552F-B126-D9F6-E694CB91E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A221D2-7695-5D9F-FFD5-E498E313A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8739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A15F0C-9195-EF66-4170-B274087F43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A1847E9-B8C0-B6F9-A918-4B0E6CD969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69F8AAD-EC3E-0E24-0190-481FFE1A2CF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E7A32C3-0F85-8732-21E3-C51B166F7C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F92E302-C262-20CA-683A-7F577269540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36FD1-A8AE-1528-F29B-5104196F042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3F031F6-CEEC-5683-CBCD-811976C4C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5464CD9-1886-CF40-500F-FA81BA2710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071875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FBF7B7-54C1-2BCC-C55D-0D279464A9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AD9A7C9-0128-4EF6-2228-07F8CF08FA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2F1362-DE8D-89FC-5F75-6D76C33B7F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B3841CF-A51F-F88D-BFCE-E15EC47F32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689739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F3B53C-D80E-78FB-308A-BBCFABFCA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2D69DB-FAB6-49BA-3D9D-95D4D5D913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D87715-9066-BFA8-8AC8-7EAC4094E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119601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6DA97B-5608-05A6-5B59-01FB16A0B0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EC406F-71B4-4613-7139-A789AAE2CDF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9F7945-FDA2-2CB3-300D-06CAC6D311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B5A5D6F-5E5B-A94B-490B-A9616A9B63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3D0695-3EB2-C179-DFAD-1E9966E89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659489-36B6-EE3A-3B4A-3C16907148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0204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B764D4-2E92-6BD8-2143-528ABA7C1D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D0983D2-4E49-12A5-E397-8E77AF75F34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A7BDF-7CB5-14CC-006A-53118C6586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75BDC58-6717-7269-E95E-0987E8A97C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BB5421-C6D6-EC59-FFC2-6CE8E48F76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E4FEA39-E95D-A614-37E3-26AA45038C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804844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DB809E-5167-A68C-4651-57E05ACD8D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F2C5B1-8F48-FF14-1E62-FC891D10D3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F34BD2-6AE5-D61A-7FA8-E4095E0DC0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441757E-3BFB-F975-1187-6A2213E33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A44003-B9CD-4403-6552-DBB0A1CE7F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72705840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66DECCA-5038-748F-E4D3-30CC4EBBF3D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693D91-CF78-488F-819D-E08B3BBD7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41F554-EA90-F39D-2CC5-9EF662E13A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2E9CEC-5F10-C13B-029E-E2BEE3FB6E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2FF3E-6C87-3937-24F7-391A99A950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224843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4056F67-8D88-98FE-3969-1399AD1652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fr-F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7B8B2EA-AFF6-6AA2-0336-C263ECF8E2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C7DAB46-C55A-8DC7-818A-77CFE3DDF2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BDC2062-6E7A-4594-8AA0-CC862D6C2B72}" type="datetimeFigureOut">
              <a:rPr lang="fr-FR" smtClean="0"/>
              <a:t>06/10/2026</a:t>
            </a:fld>
            <a:endParaRPr lang="fr-F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04ECA4-AD84-8C4D-2277-65E5FD3D18C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B3551-697D-F9D6-4FB4-6D2F3C04DCC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4B53A18-C0F4-4606-8A93-560A6BFAD2D3}" type="slidenum">
              <a:rPr lang="fr-FR" smtClean="0"/>
              <a:t>‹#›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336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tida.community" TargetMode="External"/><Relationship Id="rId4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7" Type="http://schemas.openxmlformats.org/officeDocument/2006/relationships/image" Target="../media/image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11.png"/><Relationship Id="rId4" Type="http://schemas.openxmlformats.org/officeDocument/2006/relationships/image" Target="../media/image1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167314-3688-B3A5-6652-B011C8A5AD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D87B9139-E6DB-AAB8-6936-82D803A57264}"/>
              </a:ext>
            </a:extLst>
          </p:cNvPr>
          <p:cNvSpPr/>
          <p:nvPr/>
        </p:nvSpPr>
        <p:spPr>
          <a:xfrm>
            <a:off x="0" y="-35169"/>
            <a:ext cx="12192000" cy="3621032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6CCEB54-71A6-27BE-D631-346C836DF9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581547"/>
            <a:ext cx="9144000" cy="2387600"/>
          </a:xfrm>
        </p:spPr>
        <p:txBody>
          <a:bodyPr/>
          <a:lstStyle/>
          <a:p>
            <a:r>
              <a:rPr lang="en-GB" noProof="0" dirty="0">
                <a:solidFill>
                  <a:schemeClr val="bg1"/>
                </a:solidFill>
              </a:rPr>
              <a:t>Auto-reporting tools 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89F5CFE6-F155-2E75-5308-3553512A50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01467" y="3585863"/>
            <a:ext cx="2789066" cy="328125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E3ECE8D-7960-85D1-18C1-C36F143DFB2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3466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2B7E6-1BB9-9651-75D9-DD63066B0AC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8E6E511E-A48B-8BD3-AD51-A00C4C8E842F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06710811-6B0B-B347-6FBC-BD744EA2F4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noProof="0" dirty="0">
                <a:solidFill>
                  <a:schemeClr val="bg1"/>
                </a:solidFill>
              </a:rPr>
              <a:t>Why TIDA matters</a:t>
            </a:r>
            <a:endParaRPr lang="en-GB" noProof="0" dirty="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562F45-C735-19F6-3F2B-13D33AB62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54B3709-E59F-0DC2-3F28-1DEA7055D6F5}"/>
              </a:ext>
            </a:extLst>
          </p:cNvPr>
          <p:cNvSpPr txBox="1"/>
          <p:nvPr/>
        </p:nvSpPr>
        <p:spPr>
          <a:xfrm>
            <a:off x="651511" y="1908224"/>
            <a:ext cx="11144250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2400"/>
              </a:spcAft>
            </a:pPr>
            <a:r>
              <a:rPr lang="en-US" sz="2400" b="1" dirty="0">
                <a:solidFill>
                  <a:schemeClr val="accent1"/>
                </a:solidFill>
              </a:rPr>
              <a:t>Our mission: </a:t>
            </a:r>
            <a:r>
              <a:rPr lang="en-US" sz="2400" dirty="0">
                <a:solidFill>
                  <a:schemeClr val="accent1"/>
                </a:solidFill>
              </a:rPr>
              <a:t>architectural models and interoperability frameworks that establish </a:t>
            </a:r>
            <a:r>
              <a:rPr lang="en-US" sz="2400" b="1" dirty="0">
                <a:solidFill>
                  <a:srgbClr val="F7BA21"/>
                </a:solidFill>
              </a:rPr>
              <a:t>trust in agentic AI</a:t>
            </a:r>
            <a:r>
              <a:rPr lang="en-US" sz="2400" dirty="0">
                <a:solidFill>
                  <a:schemeClr val="accent1"/>
                </a:solidFill>
              </a:rPr>
              <a:t>, built within the UN with Member States, industry and academia.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accent1"/>
                </a:solidFill>
              </a:rPr>
              <a:t>Speed. </a:t>
            </a:r>
            <a:r>
              <a:rPr lang="en-US" sz="2200" dirty="0">
                <a:solidFill>
                  <a:schemeClr val="accent1"/>
                </a:solidFill>
              </a:rPr>
              <a:t>Standards bodies are still debating whether to form working groups. TIDA lets experts advance the work now.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accent1"/>
                </a:solidFill>
              </a:rPr>
              <a:t>Inclusion. </a:t>
            </a:r>
            <a:r>
              <a:rPr lang="en-US" sz="2200" dirty="0">
                <a:solidFill>
                  <a:schemeClr val="accent1"/>
                </a:solidFill>
              </a:rPr>
              <a:t>Few organisations can attend every standards body. Without a shared baseline, only the largest platforms will set the rules.</a:t>
            </a:r>
          </a:p>
          <a:p>
            <a:pPr>
              <a:spcAft>
                <a:spcPts val="1200"/>
              </a:spcAft>
            </a:pPr>
            <a:r>
              <a:rPr lang="en-US" sz="2200" b="1" dirty="0">
                <a:solidFill>
                  <a:schemeClr val="accent1"/>
                </a:solidFill>
              </a:rPr>
              <a:t>No fragmentation. </a:t>
            </a:r>
            <a:r>
              <a:rPr lang="en-US" sz="2200" dirty="0">
                <a:solidFill>
                  <a:schemeClr val="accent1"/>
                </a:solidFill>
              </a:rPr>
              <a:t>We fragmented digital identity for humans. TIDA provides common frameworks so we do not repeat that for AI agents.</a:t>
            </a:r>
          </a:p>
        </p:txBody>
      </p:sp>
    </p:spTree>
    <p:extLst>
      <p:ext uri="{BB962C8B-B14F-4D97-AF65-F5344CB8AC3E}">
        <p14:creationId xmlns:p14="http://schemas.microsoft.com/office/powerpoint/2010/main" val="25127949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36C036-742D-E6FF-6A39-95B87B450B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07EF1ABB-0FDF-41EC-E63C-4FB0587C44D3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CB2CA1DF-0418-BC15-3989-C679FAEDF80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Launched 9 July 2026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144793A6-877D-7840-A3F0-DCB3ACBD11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3" name="Image 1" descr="/sessions/festive-gracious-tesla/mnt/outputs/orig_image5.jpeg">
            <a:extLst>
              <a:ext uri="{FF2B5EF4-FFF2-40B4-BE49-F238E27FC236}">
                <a16:creationId xmlns:a16="http://schemas.microsoft.com/office/drawing/2014/main" id="{A48814AE-B925-2CAD-0896-25CD20DBA38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8947" y="1626827"/>
            <a:ext cx="4388707" cy="3289162"/>
          </a:xfrm>
          <a:prstGeom prst="rect">
            <a:avLst/>
          </a:prstGeom>
        </p:spPr>
      </p:pic>
      <p:sp>
        <p:nvSpPr>
          <p:cNvPr id="8" name="Shape 3">
            <a:extLst>
              <a:ext uri="{FF2B5EF4-FFF2-40B4-BE49-F238E27FC236}">
                <a16:creationId xmlns:a16="http://schemas.microsoft.com/office/drawing/2014/main" id="{D0955D11-EFBE-F52C-D237-7B8EA537136F}"/>
              </a:ext>
            </a:extLst>
          </p:cNvPr>
          <p:cNvSpPr/>
          <p:nvPr/>
        </p:nvSpPr>
        <p:spPr>
          <a:xfrm>
            <a:off x="515982" y="198990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1" name="Text 4">
            <a:extLst>
              <a:ext uri="{FF2B5EF4-FFF2-40B4-BE49-F238E27FC236}">
                <a16:creationId xmlns:a16="http://schemas.microsoft.com/office/drawing/2014/main" id="{5D92EF33-400A-1E55-301F-338C318B318B}"/>
              </a:ext>
            </a:extLst>
          </p:cNvPr>
          <p:cNvSpPr/>
          <p:nvPr/>
        </p:nvSpPr>
        <p:spPr>
          <a:xfrm>
            <a:off x="515982" y="2037437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</a:t>
            </a:r>
            <a:endParaRPr lang="en-US" sz="3300" dirty="0"/>
          </a:p>
        </p:txBody>
      </p:sp>
      <p:sp>
        <p:nvSpPr>
          <p:cNvPr id="14" name="Text 5">
            <a:extLst>
              <a:ext uri="{FF2B5EF4-FFF2-40B4-BE49-F238E27FC236}">
                <a16:creationId xmlns:a16="http://schemas.microsoft.com/office/drawing/2014/main" id="{F59095ED-EF24-8CBC-D0BC-7AAEEF3C5C06}"/>
              </a:ext>
            </a:extLst>
          </p:cNvPr>
          <p:cNvSpPr/>
          <p:nvPr/>
        </p:nvSpPr>
        <p:spPr>
          <a:xfrm>
            <a:off x="515982" y="2563217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governments</a:t>
            </a:r>
            <a:endParaRPr lang="en-US" sz="2000" dirty="0"/>
          </a:p>
        </p:txBody>
      </p:sp>
      <p:sp>
        <p:nvSpPr>
          <p:cNvPr id="17" name="Shape 6">
            <a:extLst>
              <a:ext uri="{FF2B5EF4-FFF2-40B4-BE49-F238E27FC236}">
                <a16:creationId xmlns:a16="http://schemas.microsoft.com/office/drawing/2014/main" id="{B413AB9B-10C8-4B73-D68D-B9F8BF708BBD}"/>
              </a:ext>
            </a:extLst>
          </p:cNvPr>
          <p:cNvSpPr/>
          <p:nvPr/>
        </p:nvSpPr>
        <p:spPr>
          <a:xfrm>
            <a:off x="3304902" y="198990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009FDDC5-9F88-7799-6347-969BAA7736AB}"/>
              </a:ext>
            </a:extLst>
          </p:cNvPr>
          <p:cNvSpPr/>
          <p:nvPr/>
        </p:nvSpPr>
        <p:spPr>
          <a:xfrm>
            <a:off x="3304902" y="2035629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</a:t>
            </a:r>
            <a:endParaRPr lang="en-US" sz="3300" dirty="0"/>
          </a:p>
        </p:txBody>
      </p:sp>
      <p:sp>
        <p:nvSpPr>
          <p:cNvPr id="21" name="Text 8">
            <a:extLst>
              <a:ext uri="{FF2B5EF4-FFF2-40B4-BE49-F238E27FC236}">
                <a16:creationId xmlns:a16="http://schemas.microsoft.com/office/drawing/2014/main" id="{22BB63B2-32F1-EBB7-FD12-00105EF964FA}"/>
              </a:ext>
            </a:extLst>
          </p:cNvPr>
          <p:cNvSpPr/>
          <p:nvPr/>
        </p:nvSpPr>
        <p:spPr>
          <a:xfrm>
            <a:off x="3304902" y="258426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companies</a:t>
            </a:r>
            <a:endParaRPr lang="en-US" sz="2000" dirty="0"/>
          </a:p>
        </p:txBody>
      </p:sp>
      <p:sp>
        <p:nvSpPr>
          <p:cNvPr id="23" name="Shape 9">
            <a:extLst>
              <a:ext uri="{FF2B5EF4-FFF2-40B4-BE49-F238E27FC236}">
                <a16:creationId xmlns:a16="http://schemas.microsoft.com/office/drawing/2014/main" id="{3FB5B413-9CFB-8979-5483-13BD11461AD3}"/>
              </a:ext>
            </a:extLst>
          </p:cNvPr>
          <p:cNvSpPr/>
          <p:nvPr/>
        </p:nvSpPr>
        <p:spPr>
          <a:xfrm>
            <a:off x="515982" y="322434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25" name="Text 10">
            <a:extLst>
              <a:ext uri="{FF2B5EF4-FFF2-40B4-BE49-F238E27FC236}">
                <a16:creationId xmlns:a16="http://schemas.microsoft.com/office/drawing/2014/main" id="{05E763E1-7BD2-23BB-F708-430D94D4E56E}"/>
              </a:ext>
            </a:extLst>
          </p:cNvPr>
          <p:cNvSpPr/>
          <p:nvPr/>
        </p:nvSpPr>
        <p:spPr>
          <a:xfrm>
            <a:off x="515982" y="3224349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3300" dirty="0"/>
          </a:p>
        </p:txBody>
      </p:sp>
      <p:sp>
        <p:nvSpPr>
          <p:cNvPr id="27" name="Text 11">
            <a:extLst>
              <a:ext uri="{FF2B5EF4-FFF2-40B4-BE49-F238E27FC236}">
                <a16:creationId xmlns:a16="http://schemas.microsoft.com/office/drawing/2014/main" id="{DBC8AF35-76FA-50E9-71B7-9CBDA7968751}"/>
              </a:ext>
            </a:extLst>
          </p:cNvPr>
          <p:cNvSpPr/>
          <p:nvPr/>
        </p:nvSpPr>
        <p:spPr>
          <a:xfrm>
            <a:off x="515982" y="386442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universities</a:t>
            </a:r>
            <a:endParaRPr lang="en-US" sz="2000" dirty="0"/>
          </a:p>
        </p:txBody>
      </p:sp>
      <p:sp>
        <p:nvSpPr>
          <p:cNvPr id="29" name="Shape 12">
            <a:extLst>
              <a:ext uri="{FF2B5EF4-FFF2-40B4-BE49-F238E27FC236}">
                <a16:creationId xmlns:a16="http://schemas.microsoft.com/office/drawing/2014/main" id="{6F38649C-7B05-D7E9-6505-71619EF91B16}"/>
              </a:ext>
            </a:extLst>
          </p:cNvPr>
          <p:cNvSpPr/>
          <p:nvPr/>
        </p:nvSpPr>
        <p:spPr>
          <a:xfrm>
            <a:off x="3304902" y="3224349"/>
            <a:ext cx="2514600" cy="1097280"/>
          </a:xfrm>
          <a:prstGeom prst="roundRect">
            <a:avLst>
              <a:gd name="adj" fmla="val 5833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1" name="Text 13">
            <a:extLst>
              <a:ext uri="{FF2B5EF4-FFF2-40B4-BE49-F238E27FC236}">
                <a16:creationId xmlns:a16="http://schemas.microsoft.com/office/drawing/2014/main" id="{FD3FFA76-2355-7355-01E2-3E4062673D21}"/>
              </a:ext>
            </a:extLst>
          </p:cNvPr>
          <p:cNvSpPr/>
          <p:nvPr/>
        </p:nvSpPr>
        <p:spPr>
          <a:xfrm>
            <a:off x="3304902" y="3234787"/>
            <a:ext cx="2514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300" b="1" dirty="0">
                <a:solidFill>
                  <a:srgbClr val="132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</a:t>
            </a:r>
            <a:endParaRPr lang="en-US" sz="3300" dirty="0"/>
          </a:p>
        </p:txBody>
      </p:sp>
      <p:sp>
        <p:nvSpPr>
          <p:cNvPr id="33" name="Text 14">
            <a:extLst>
              <a:ext uri="{FF2B5EF4-FFF2-40B4-BE49-F238E27FC236}">
                <a16:creationId xmlns:a16="http://schemas.microsoft.com/office/drawing/2014/main" id="{70ED36AE-9746-BC03-7425-D43A1B769C2A}"/>
              </a:ext>
            </a:extLst>
          </p:cNvPr>
          <p:cNvSpPr/>
          <p:nvPr/>
        </p:nvSpPr>
        <p:spPr>
          <a:xfrm>
            <a:off x="3304902" y="3818709"/>
            <a:ext cx="2514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6B77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 supporters on stage</a:t>
            </a:r>
            <a:endParaRPr lang="en-US" sz="2000" dirty="0"/>
          </a:p>
        </p:txBody>
      </p:sp>
      <p:sp>
        <p:nvSpPr>
          <p:cNvPr id="35" name="Shape 15">
            <a:extLst>
              <a:ext uri="{FF2B5EF4-FFF2-40B4-BE49-F238E27FC236}">
                <a16:creationId xmlns:a16="http://schemas.microsoft.com/office/drawing/2014/main" id="{79C8BF8B-D585-7F2A-07BE-79D38A755164}"/>
              </a:ext>
            </a:extLst>
          </p:cNvPr>
          <p:cNvSpPr/>
          <p:nvPr/>
        </p:nvSpPr>
        <p:spPr>
          <a:xfrm>
            <a:off x="515982" y="4687389"/>
            <a:ext cx="11091672" cy="1645920"/>
          </a:xfrm>
          <a:prstGeom prst="roundRect">
            <a:avLst>
              <a:gd name="adj" fmla="val 3889"/>
            </a:avLst>
          </a:prstGeom>
          <a:solidFill>
            <a:srgbClr val="F3F6FB"/>
          </a:solidFill>
          <a:ln w="9525">
            <a:solidFill>
              <a:srgbClr val="D8E0EC"/>
            </a:solidFill>
            <a:prstDash val="solid"/>
          </a:ln>
          <a:effectLst>
            <a:outerShdw blurRad="101600" dist="25400" dir="54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fr-FR"/>
          </a:p>
        </p:txBody>
      </p:sp>
      <p:sp>
        <p:nvSpPr>
          <p:cNvPr id="37" name="Text 16">
            <a:extLst>
              <a:ext uri="{FF2B5EF4-FFF2-40B4-BE49-F238E27FC236}">
                <a16:creationId xmlns:a16="http://schemas.microsoft.com/office/drawing/2014/main" id="{968B8353-70D2-2BDA-AFD7-325C1903FA7F}"/>
              </a:ext>
            </a:extLst>
          </p:cNvPr>
          <p:cNvSpPr/>
          <p:nvPr/>
        </p:nvSpPr>
        <p:spPr>
          <a:xfrm>
            <a:off x="836022" y="4915989"/>
            <a:ext cx="104515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7D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12 use-case and 28 working-group proposals submitted.</a:t>
            </a:r>
            <a:endParaRPr lang="en-US" sz="2400" dirty="0"/>
          </a:p>
          <a:p>
            <a:r>
              <a:rPr lang="en-US" sz="2000" dirty="0">
                <a:solidFill>
                  <a:srgbClr val="2E7D5B"/>
                </a:solidFill>
              </a:rPr>
              <a:t>Open to all, free of charge, no ITU membership required   ·   </a:t>
            </a:r>
            <a:r>
              <a:rPr lang="en-US" sz="2000" b="1" dirty="0">
                <a:solidFill>
                  <a:srgbClr val="0563C1"/>
                </a:solidFill>
                <a:hlinkClick r:id="rId5"/>
              </a:rPr>
              <a:t>tida.community</a:t>
            </a:r>
          </a:p>
        </p:txBody>
      </p:sp>
    </p:spTree>
    <p:extLst>
      <p:ext uri="{BB962C8B-B14F-4D97-AF65-F5344CB8AC3E}">
        <p14:creationId xmlns:p14="http://schemas.microsoft.com/office/powerpoint/2010/main" val="22700794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8968FB-2232-B349-4AC0-5DF6F6E646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EA1A2F07-0E9D-DC69-3AAF-EA0150D671CC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B27B38D-EF8A-09C2-A29F-2C6B2AECBE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CD54950E-F8A7-3D8B-29F8-E8A9DCFF805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1019" r="59744" b="75636"/>
          <a:stretch>
            <a:fillRect/>
          </a:stretch>
        </p:blipFill>
        <p:spPr>
          <a:xfrm>
            <a:off x="4123218" y="2903135"/>
            <a:ext cx="3523806" cy="163177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C5F3557-E06D-2AB3-3E6D-B3A3F608C6E1}"/>
              </a:ext>
            </a:extLst>
          </p:cNvPr>
          <p:cNvSpPr txBox="1"/>
          <p:nvPr/>
        </p:nvSpPr>
        <p:spPr>
          <a:xfrm>
            <a:off x="578307" y="1926882"/>
            <a:ext cx="859355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Governments, industry and academia. Full list at tida.community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1C90717-2446-DD43-F056-15E87BA6B5D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209" t="2722" r="84670" b="79525"/>
          <a:stretch>
            <a:fillRect/>
          </a:stretch>
        </p:blipFill>
        <p:spPr>
          <a:xfrm>
            <a:off x="9746740" y="4694365"/>
            <a:ext cx="2168536" cy="126580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E795DE09-48E1-4361-5A93-50646090D47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040" t="18608" r="82880" b="49582"/>
          <a:stretch>
            <a:fillRect/>
          </a:stretch>
        </p:blipFill>
        <p:spPr>
          <a:xfrm>
            <a:off x="3145825" y="2335576"/>
            <a:ext cx="1660358" cy="1371600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D1900779-E6FB-6F86-DE24-E64F9E7D32B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9960" b="67960"/>
          <a:stretch>
            <a:fillRect/>
          </a:stretch>
        </p:blipFill>
        <p:spPr>
          <a:xfrm>
            <a:off x="9247891" y="2373051"/>
            <a:ext cx="2673333" cy="123961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C99AB38B-EC89-40A0-1B1E-35C6D841A0C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7736" t="36509" r="61632" b="34856"/>
          <a:stretch>
            <a:fillRect/>
          </a:stretch>
        </p:blipFill>
        <p:spPr>
          <a:xfrm>
            <a:off x="0" y="2990232"/>
            <a:ext cx="2430380" cy="978304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55E4737-3342-EB42-A8B8-3E2DF7BADF8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39119" t="67960" r="39303" b="7740"/>
          <a:stretch>
            <a:fillRect/>
          </a:stretch>
        </p:blipFill>
        <p:spPr>
          <a:xfrm>
            <a:off x="7269215" y="4552479"/>
            <a:ext cx="2541950" cy="830180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62CEE0-4DAB-E2E9-6729-41D53F32789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t="77802" r="78560"/>
          <a:stretch>
            <a:fillRect/>
          </a:stretch>
        </p:blipFill>
        <p:spPr>
          <a:xfrm>
            <a:off x="4919476" y="4300732"/>
            <a:ext cx="2541951" cy="978305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F4E7ECE6-F670-7D36-A5FA-4BE80F2708A4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9996" r="58564" b="72344"/>
          <a:stretch>
            <a:fillRect/>
          </a:stretch>
        </p:blipFill>
        <p:spPr>
          <a:xfrm>
            <a:off x="433137" y="5351032"/>
            <a:ext cx="2541950" cy="1218837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E94CEB4B-C965-6CCD-F7D0-A987ECA8A928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42044" t="74297" r="42396"/>
          <a:stretch>
            <a:fillRect/>
          </a:stretch>
        </p:blipFill>
        <p:spPr>
          <a:xfrm>
            <a:off x="276724" y="3968536"/>
            <a:ext cx="1844844" cy="1132752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01D89636-761C-4814-6E59-E72CBA2126C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558" t="73956" r="18215"/>
          <a:stretch>
            <a:fillRect/>
          </a:stretch>
        </p:blipFill>
        <p:spPr>
          <a:xfrm>
            <a:off x="6645329" y="2526009"/>
            <a:ext cx="2753784" cy="114780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2FBEDBA-4D2D-9435-190C-A94C21301A2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5504" t="80755" r="64037" b="6539"/>
          <a:stretch>
            <a:fillRect/>
          </a:stretch>
        </p:blipFill>
        <p:spPr>
          <a:xfrm>
            <a:off x="9313581" y="3380581"/>
            <a:ext cx="2541951" cy="1147803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8196A4B-3C54-A327-A063-F0C7C0B90B7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58890" t="26522" r="18562" b="48060"/>
          <a:stretch>
            <a:fillRect/>
          </a:stretch>
        </p:blipFill>
        <p:spPr>
          <a:xfrm>
            <a:off x="8445225" y="5663330"/>
            <a:ext cx="2673333" cy="1120180"/>
          </a:xfrm>
          <a:prstGeom prst="rect">
            <a:avLst/>
          </a:prstGeom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86584CB3-D346-AED8-F684-009BBA05D373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4747" t="59192" r="47842"/>
          <a:stretch>
            <a:fillRect/>
          </a:stretch>
        </p:blipFill>
        <p:spPr>
          <a:xfrm>
            <a:off x="2236450" y="3824184"/>
            <a:ext cx="1725022" cy="140197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E0BE9804-13E6-6357-0130-E9BBF277EC5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7520" t="67205" r="6155" b="9639"/>
          <a:stretch>
            <a:fillRect/>
          </a:stretch>
        </p:blipFill>
        <p:spPr>
          <a:xfrm>
            <a:off x="4397806" y="5478072"/>
            <a:ext cx="3637366" cy="126580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A8D071DC-6CAD-4AE6-AAC4-81DD624497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41800" t="38607" r="11876" b="22481"/>
          <a:stretch>
            <a:fillRect/>
          </a:stretch>
        </p:blipFill>
        <p:spPr>
          <a:xfrm>
            <a:off x="2738683" y="5343168"/>
            <a:ext cx="1659123" cy="1307196"/>
          </a:xfrm>
          <a:prstGeom prst="rect">
            <a:avLst/>
          </a:prstGeom>
        </p:spPr>
      </p:pic>
      <p:sp>
        <p:nvSpPr>
          <p:cNvPr id="5" name="Title 6">
            <a:extLst>
              <a:ext uri="{FF2B5EF4-FFF2-40B4-BE49-F238E27FC236}">
                <a16:creationId xmlns:a16="http://schemas.microsoft.com/office/drawing/2014/main" id="{3EAF4F7B-6C7A-802C-FC6B-F956E27CF8A4}"/>
              </a:ext>
            </a:extLst>
          </p:cNvPr>
          <p:cNvSpPr txBox="1">
            <a:spLocks/>
          </p:cNvSpPr>
          <p:nvPr/>
        </p:nvSpPr>
        <p:spPr>
          <a:xfrm>
            <a:off x="341085" y="219392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>
                <a:solidFill>
                  <a:schemeClr val="bg1"/>
                </a:solidFill>
              </a:rPr>
              <a:t>Who supports TIDA</a:t>
            </a:r>
          </a:p>
        </p:txBody>
      </p:sp>
    </p:spTree>
    <p:extLst>
      <p:ext uri="{BB962C8B-B14F-4D97-AF65-F5344CB8AC3E}">
        <p14:creationId xmlns:p14="http://schemas.microsoft.com/office/powerpoint/2010/main" val="38919156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67EC5B-7306-1E42-7349-5E5A73FBE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D3D298F7-A37F-A111-30EF-FC17DDF96241}"/>
              </a:ext>
            </a:extLst>
          </p:cNvPr>
          <p:cNvSpPr/>
          <p:nvPr/>
        </p:nvSpPr>
        <p:spPr>
          <a:xfrm>
            <a:off x="0" y="0"/>
            <a:ext cx="12192000" cy="1607736"/>
          </a:xfrm>
          <a:prstGeom prst="rect">
            <a:avLst/>
          </a:prstGeom>
          <a:solidFill>
            <a:srgbClr val="049BD6"/>
          </a:solidFill>
          <a:ln>
            <a:solidFill>
              <a:srgbClr val="009ED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noProof="0" dirty="0"/>
          </a:p>
        </p:txBody>
      </p:sp>
      <p:sp>
        <p:nvSpPr>
          <p:cNvPr id="7" name="Title 6">
            <a:extLst>
              <a:ext uri="{FF2B5EF4-FFF2-40B4-BE49-F238E27FC236}">
                <a16:creationId xmlns:a16="http://schemas.microsoft.com/office/drawing/2014/main" id="{6E024863-7ECA-4C70-2749-410819BCE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1085" y="219392"/>
            <a:ext cx="10515600" cy="1325563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Next steps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E705758-91A9-6116-9E57-98774486594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58212" y="107366"/>
            <a:ext cx="2064271" cy="696502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A18F127-71BB-8612-9A11-0ABD08A9DA80}"/>
              </a:ext>
            </a:extLst>
          </p:cNvPr>
          <p:cNvSpPr txBox="1"/>
          <p:nvPr/>
        </p:nvSpPr>
        <p:spPr>
          <a:xfrm>
            <a:off x="796366" y="1970078"/>
            <a:ext cx="10895248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514350" indent="-514350">
              <a:spcAft>
                <a:spcPts val="1800"/>
              </a:spcAft>
              <a:buFont typeface="+mj-lt"/>
              <a:buAutoNum type="arabicPeriod"/>
            </a:pPr>
            <a:r>
              <a:rPr lang="en-US" sz="2600" b="1" dirty="0">
                <a:solidFill>
                  <a:schemeClr val="accent1"/>
                </a:solidFill>
              </a:rPr>
              <a:t>Select the priority working groups from the 28 proposals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 startAt="2"/>
            </a:pPr>
            <a:r>
              <a:rPr lang="en-US" sz="2600" b="1" dirty="0">
                <a:solidFill>
                  <a:schemeClr val="accent1"/>
                </a:solidFill>
              </a:rPr>
              <a:t>Publish initial deliverables openly on GitHub</a:t>
            </a:r>
          </a:p>
          <a:p>
            <a:pPr marL="514350" indent="-514350">
              <a:spcAft>
                <a:spcPts val="1800"/>
              </a:spcAft>
              <a:buFont typeface="+mj-lt"/>
              <a:buAutoNum type="arabicPeriod" startAt="3"/>
            </a:pPr>
            <a:r>
              <a:rPr lang="en-US" sz="2600" b="1" dirty="0">
                <a:solidFill>
                  <a:schemeClr val="accent1"/>
                </a:solidFill>
              </a:rPr>
              <a:t>First in-person meeting: </a:t>
            </a:r>
          </a:p>
          <a:p>
            <a:pPr>
              <a:spcAft>
                <a:spcPts val="1800"/>
              </a:spcAft>
            </a:pPr>
            <a:r>
              <a:rPr lang="en-US" sz="2600" b="1" dirty="0">
                <a:solidFill>
                  <a:schemeClr val="accent1"/>
                </a:solidFill>
                <a:highlight>
                  <a:srgbClr val="F7BA21"/>
                </a:highlight>
              </a:rPr>
              <a:t>Paris, 30 Nov – 1 Dec 2026, hosted by the French </a:t>
            </a:r>
            <a:r>
              <a:rPr lang="en-US" sz="2600" b="1" dirty="0" err="1">
                <a:solidFill>
                  <a:schemeClr val="accent1"/>
                </a:solidFill>
                <a:highlight>
                  <a:srgbClr val="F7BA21"/>
                </a:highlight>
              </a:rPr>
              <a:t>MoI</a:t>
            </a:r>
            <a:r>
              <a:rPr lang="en-US" sz="2600" b="1" dirty="0">
                <a:solidFill>
                  <a:schemeClr val="accent1"/>
                </a:solidFill>
                <a:highlight>
                  <a:srgbClr val="F7BA21"/>
                </a:highlight>
              </a:rPr>
              <a:t> at UNESCO</a:t>
            </a:r>
          </a:p>
        </p:txBody>
      </p:sp>
      <p:pic>
        <p:nvPicPr>
          <p:cNvPr id="2" name="Picture 1" descr="logo-unesco - Cooperation Concept">
            <a:extLst>
              <a:ext uri="{FF2B5EF4-FFF2-40B4-BE49-F238E27FC236}">
                <a16:creationId xmlns:a16="http://schemas.microsoft.com/office/drawing/2014/main" id="{6B25D20B-6B6E-EBE2-1987-9E3B5E6D256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19694" y="5078621"/>
            <a:ext cx="1837388" cy="1395433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977F97F-430B-C4ED-06F8-6B530E21906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286375" y="4953000"/>
            <a:ext cx="1619250" cy="19050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F68A4824-2475-F86F-3C8C-5BF13A71EE2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21019" r="65484" b="80048"/>
          <a:stretch>
            <a:fillRect/>
          </a:stretch>
        </p:blipFill>
        <p:spPr>
          <a:xfrm>
            <a:off x="2043003" y="5078621"/>
            <a:ext cx="2886338" cy="1559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77836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195</Words>
  <Application>Microsoft Office PowerPoint</Application>
  <PresentationFormat>Widescreen</PresentationFormat>
  <Paragraphs>26</Paragraphs>
  <Slides>5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Office Theme</vt:lpstr>
      <vt:lpstr>Auto-reporting tools </vt:lpstr>
      <vt:lpstr>Why TIDA matters</vt:lpstr>
      <vt:lpstr>Launched 9 July 2026</vt:lpstr>
      <vt:lpstr>PowerPoint Presentation</vt:lpstr>
      <vt:lpstr>Next steps</vt:lpstr>
    </vt:vector>
  </TitlesOfParts>
  <Company>Thales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MATIAS Nicolas</dc:creator>
  <cp:lastModifiedBy>COMPARIN Debora</cp:lastModifiedBy>
  <cp:revision>35</cp:revision>
  <dcterms:created xsi:type="dcterms:W3CDTF">2026-05-31T18:20:48Z</dcterms:created>
  <dcterms:modified xsi:type="dcterms:W3CDTF">2026-10-06T11:49:26Z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cf20372f-9ab3-4551-9149-9f9b12e2c27e_Enabled">
    <vt:lpwstr>true</vt:lpwstr>
  </property>
  <property fmtid="{D5CDD505-2E9C-101B-9397-08002B2CF9AE}" pid="3" name="MSIP_Label_cf20372f-9ab3-4551-9149-9f9b12e2c27e_SetDate">
    <vt:lpwstr>2026-06-01T08:20:46Z</vt:lpwstr>
  </property>
  <property fmtid="{D5CDD505-2E9C-101B-9397-08002B2CF9AE}" pid="4" name="MSIP_Label_cf20372f-9ab3-4551-9149-9f9b12e2c27e_Method">
    <vt:lpwstr>Privileged</vt:lpwstr>
  </property>
  <property fmtid="{D5CDD505-2E9C-101B-9397-08002B2CF9AE}" pid="5" name="MSIP_Label_cf20372f-9ab3-4551-9149-9f9b12e2c27e_Name">
    <vt:lpwstr>DIS OPEN</vt:lpwstr>
  </property>
  <property fmtid="{D5CDD505-2E9C-101B-9397-08002B2CF9AE}" pid="6" name="MSIP_Label_cf20372f-9ab3-4551-9149-9f9b12e2c27e_SiteId">
    <vt:lpwstr>6e603289-5e46-4e26-ac7c-03a85420a9a5</vt:lpwstr>
  </property>
  <property fmtid="{D5CDD505-2E9C-101B-9397-08002B2CF9AE}" pid="7" name="MSIP_Label_cf20372f-9ab3-4551-9149-9f9b12e2c27e_ActionId">
    <vt:lpwstr>b678ddd5-4db5-4f0c-bf84-7ea5bdd9db4e</vt:lpwstr>
  </property>
  <property fmtid="{D5CDD505-2E9C-101B-9397-08002B2CF9AE}" pid="8" name="MSIP_Label_cf20372f-9ab3-4551-9149-9f9b12e2c27e_ContentBits">
    <vt:lpwstr>0</vt:lpwstr>
  </property>
  <property fmtid="{D5CDD505-2E9C-101B-9397-08002B2CF9AE}" pid="9" name="MSIP_Label_cf20372f-9ab3-4551-9149-9f9b12e2c27e_Tag">
    <vt:lpwstr>10, 0, 1, 1</vt:lpwstr>
  </property>
</Properties>
</file>